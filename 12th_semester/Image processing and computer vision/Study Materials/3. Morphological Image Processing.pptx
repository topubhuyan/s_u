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404" r:id="rId7"/>
    <p:sldId id="261" r:id="rId8"/>
    <p:sldId id="263" r:id="rId9"/>
    <p:sldId id="264" r:id="rId10"/>
    <p:sldId id="266" r:id="rId11"/>
    <p:sldId id="268" r:id="rId12"/>
    <p:sldId id="267" r:id="rId13"/>
    <p:sldId id="269" r:id="rId14"/>
    <p:sldId id="272" r:id="rId15"/>
    <p:sldId id="273" r:id="rId16"/>
    <p:sldId id="274" r:id="rId17"/>
    <p:sldId id="275" r:id="rId18"/>
    <p:sldId id="276" r:id="rId19"/>
    <p:sldId id="277" r:id="rId20"/>
    <p:sldId id="288" r:id="rId21"/>
    <p:sldId id="289" r:id="rId22"/>
    <p:sldId id="290" r:id="rId23"/>
    <p:sldId id="291" r:id="rId24"/>
    <p:sldId id="292" r:id="rId25"/>
    <p:sldId id="279" r:id="rId26"/>
    <p:sldId id="294" r:id="rId27"/>
    <p:sldId id="295" r:id="rId28"/>
    <p:sldId id="296" r:id="rId29"/>
    <p:sldId id="297" r:id="rId30"/>
    <p:sldId id="298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309" r:id="rId39"/>
    <p:sldId id="310" r:id="rId40"/>
    <p:sldId id="311" r:id="rId41"/>
    <p:sldId id="312" r:id="rId42"/>
    <p:sldId id="313" r:id="rId43"/>
    <p:sldId id="314" r:id="rId44"/>
    <p:sldId id="315" r:id="rId45"/>
    <p:sldId id="316" r:id="rId46"/>
    <p:sldId id="317" r:id="rId47"/>
    <p:sldId id="318" r:id="rId48"/>
    <p:sldId id="319" r:id="rId49"/>
    <p:sldId id="320" r:id="rId50"/>
    <p:sldId id="321" r:id="rId51"/>
    <p:sldId id="322" r:id="rId52"/>
    <p:sldId id="323" r:id="rId53"/>
    <p:sldId id="325" r:id="rId54"/>
    <p:sldId id="328" r:id="rId55"/>
    <p:sldId id="326" r:id="rId56"/>
    <p:sldId id="330" r:id="rId57"/>
    <p:sldId id="331" r:id="rId58"/>
    <p:sldId id="332" r:id="rId59"/>
    <p:sldId id="333" r:id="rId60"/>
    <p:sldId id="334" r:id="rId61"/>
    <p:sldId id="335" r:id="rId62"/>
    <p:sldId id="336" r:id="rId63"/>
    <p:sldId id="337" r:id="rId64"/>
    <p:sldId id="338" r:id="rId65"/>
    <p:sldId id="339" r:id="rId66"/>
    <p:sldId id="340" r:id="rId67"/>
    <p:sldId id="341" r:id="rId68"/>
    <p:sldId id="342" r:id="rId69"/>
    <p:sldId id="343" r:id="rId70"/>
    <p:sldId id="344" r:id="rId71"/>
    <p:sldId id="345" r:id="rId72"/>
    <p:sldId id="346" r:id="rId73"/>
    <p:sldId id="347" r:id="rId74"/>
    <p:sldId id="348" r:id="rId75"/>
    <p:sldId id="349" r:id="rId76"/>
    <p:sldId id="350" r:id="rId77"/>
    <p:sldId id="355" r:id="rId78"/>
    <p:sldId id="356" r:id="rId79"/>
    <p:sldId id="357" r:id="rId80"/>
    <p:sldId id="358" r:id="rId81"/>
    <p:sldId id="359" r:id="rId82"/>
    <p:sldId id="360" r:id="rId83"/>
    <p:sldId id="361" r:id="rId84"/>
    <p:sldId id="362" r:id="rId85"/>
    <p:sldId id="352" r:id="rId86"/>
    <p:sldId id="363" r:id="rId87"/>
    <p:sldId id="364" r:id="rId88"/>
    <p:sldId id="365" r:id="rId89"/>
    <p:sldId id="366" r:id="rId90"/>
    <p:sldId id="367" r:id="rId91"/>
    <p:sldId id="368" r:id="rId92"/>
    <p:sldId id="369" r:id="rId93"/>
    <p:sldId id="370" r:id="rId94"/>
    <p:sldId id="353" r:id="rId95"/>
    <p:sldId id="503" r:id="rId96"/>
    <p:sldId id="399" r:id="rId97"/>
    <p:sldId id="400" r:id="rId98"/>
    <p:sldId id="371" r:id="rId99"/>
    <p:sldId id="405" r:id="rId100"/>
    <p:sldId id="392" r:id="rId101"/>
    <p:sldId id="393" r:id="rId102"/>
    <p:sldId id="396" r:id="rId103"/>
    <p:sldId id="397" r:id="rId104"/>
    <p:sldId id="280" r:id="rId10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60"/>
  </p:normalViewPr>
  <p:slideViewPr>
    <p:cSldViewPr snapToGrid="0">
      <p:cViewPr varScale="1">
        <p:scale>
          <a:sx n="85" d="100"/>
          <a:sy n="85" d="100"/>
        </p:scale>
        <p:origin x="1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8" Type="http://schemas.openxmlformats.org/officeDocument/2006/relationships/tableStyles" Target="tableStyles.xml"/><Relationship Id="rId107" Type="http://schemas.openxmlformats.org/officeDocument/2006/relationships/viewProps" Target="viewProps.xml"/><Relationship Id="rId106" Type="http://schemas.openxmlformats.org/officeDocument/2006/relationships/presProps" Target="presProps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9536-1E7C-4CA4-8F2A-75060F90BB2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B8C34-FACA-47B7-8AAF-498976A2A35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9536-1E7C-4CA4-8F2A-75060F90BB2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B8C34-FACA-47B7-8AAF-498976A2A35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9536-1E7C-4CA4-8F2A-75060F90BB2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B8C34-FACA-47B7-8AAF-498976A2A35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9536-1E7C-4CA4-8F2A-75060F90BB2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B8C34-FACA-47B7-8AAF-498976A2A35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9536-1E7C-4CA4-8F2A-75060F90BB2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B8C34-FACA-47B7-8AAF-498976A2A35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9536-1E7C-4CA4-8F2A-75060F90BB2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B8C34-FACA-47B7-8AAF-498976A2A35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9536-1E7C-4CA4-8F2A-75060F90BB2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B8C34-FACA-47B7-8AAF-498976A2A35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9536-1E7C-4CA4-8F2A-75060F90BB2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B8C34-FACA-47B7-8AAF-498976A2A35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9536-1E7C-4CA4-8F2A-75060F90BB2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B8C34-FACA-47B7-8AAF-498976A2A35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9536-1E7C-4CA4-8F2A-75060F90BB2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B8C34-FACA-47B7-8AAF-498976A2A35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9536-1E7C-4CA4-8F2A-75060F90BB2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B8C34-FACA-47B7-8AAF-498976A2A35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F9536-1E7C-4CA4-8F2A-75060F90BB2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B8C34-FACA-47B7-8AAF-498976A2A35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microsoft.com/office/2007/relationships/hdphoto" Target="../media/image10.wdp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62.png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62.png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9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2.png"/><Relationship Id="rId8" Type="http://schemas.openxmlformats.org/officeDocument/2006/relationships/image" Target="../media/image64.png"/><Relationship Id="rId7" Type="http://schemas.openxmlformats.org/officeDocument/2006/relationships/image" Target="../media/image63.png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9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8.png"/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9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.svg"/><Relationship Id="rId3" Type="http://schemas.openxmlformats.org/officeDocument/2006/relationships/image" Target="../media/image70.png"/><Relationship Id="rId2" Type="http://schemas.openxmlformats.org/officeDocument/2006/relationships/image" Target="../media/image1.svg"/><Relationship Id="rId1" Type="http://schemas.openxmlformats.org/officeDocument/2006/relationships/image" Target="../media/image69.png"/></Relationships>
</file>

<file path=ppt/slides/_rels/slide9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svg"/><Relationship Id="rId3" Type="http://schemas.openxmlformats.org/officeDocument/2006/relationships/image" Target="../media/image72.png"/><Relationship Id="rId2" Type="http://schemas.openxmlformats.org/officeDocument/2006/relationships/image" Target="../media/image3.svg"/><Relationship Id="rId1" Type="http://schemas.openxmlformats.org/officeDocument/2006/relationships/image" Target="../media/image71.png"/></Relationships>
</file>

<file path=ppt/slides/_rels/slide9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svg"/><Relationship Id="rId3" Type="http://schemas.openxmlformats.org/officeDocument/2006/relationships/image" Target="../media/image74.png"/><Relationship Id="rId2" Type="http://schemas.openxmlformats.org/officeDocument/2006/relationships/image" Target="../media/image5.svg"/><Relationship Id="rId1" Type="http://schemas.openxmlformats.org/officeDocument/2006/relationships/image" Target="../media/image73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5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6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1" Type="http://schemas.openxmlformats.org/officeDocument/2006/relationships/image" Target="../media/image77.wmf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en.wikipedia.org/wiki/Pruning_(morphology)" TargetMode="External"/><Relationship Id="rId1" Type="http://schemas.openxmlformats.org/officeDocument/2006/relationships/hyperlink" Target="http://inside.mines.edu/~whoff/courses/EENG51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Morphological Image Processing</a:t>
            </a:r>
            <a:br>
              <a:rPr lang="en-US" b="1" dirty="0"/>
            </a:b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Morphology “ – a branch in biology that deals with the form and structure of animals and plants.</a:t>
            </a:r>
            <a:endParaRPr lang="en-US" dirty="0"/>
          </a:p>
          <a:p>
            <a:endParaRPr lang="en-US" dirty="0"/>
          </a:p>
          <a:p>
            <a:r>
              <a:rPr lang="en-US" dirty="0"/>
              <a:t>Mathematical morphology is used to extract some properties of the</a:t>
            </a:r>
            <a:br>
              <a:rPr lang="en-US" dirty="0"/>
            </a:br>
            <a:r>
              <a:rPr lang="en-US" dirty="0"/>
              <a:t>image, useful for its presentation and descriptions. For example,</a:t>
            </a:r>
            <a:br>
              <a:rPr lang="en-US" dirty="0"/>
            </a:br>
            <a:r>
              <a:rPr lang="en-US" dirty="0"/>
              <a:t>contours, skeletons and convex hulls. 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Preliminaries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858169"/>
            <a:ext cx="105156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Structuring 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Morphological operations are defined based on structuring element.</a:t>
            </a:r>
            <a:endParaRPr lang="en-US" dirty="0"/>
          </a:p>
          <a:p>
            <a:r>
              <a:rPr lang="en-US" dirty="0"/>
              <a:t>A structuring element is a small sets or sub images used to probe an image under study.</a:t>
            </a:r>
            <a:endParaRPr lang="en-US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 rotWithShape="1">
          <a:blip r:embed="rId1"/>
          <a:srcRect l="24224" t="31002" r="5763" b="1164"/>
          <a:stretch>
            <a:fillRect/>
          </a:stretch>
        </p:blipFill>
        <p:spPr>
          <a:xfrm>
            <a:off x="2043485" y="3184498"/>
            <a:ext cx="7116418" cy="36019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Erosion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ph idx="1"/>
          </p:nvPr>
        </p:nvGraphicFramePr>
        <p:xfrm>
          <a:off x="838200" y="1825624"/>
          <a:ext cx="3372558" cy="28253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2093"/>
                <a:gridCol w="562093"/>
                <a:gridCol w="562093"/>
                <a:gridCol w="562093"/>
                <a:gridCol w="562093"/>
                <a:gridCol w="562093"/>
              </a:tblGrid>
              <a:tr h="56507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</a:tr>
              <a:tr h="56507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</a:tr>
              <a:tr h="56507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</a:tr>
              <a:tr h="56507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</a:tr>
              <a:tr h="56507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6" name="Table 4"/>
          <p:cNvGraphicFramePr/>
          <p:nvPr/>
        </p:nvGraphicFramePr>
        <p:xfrm>
          <a:off x="7075310" y="1822978"/>
          <a:ext cx="3372558" cy="28253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2093"/>
                <a:gridCol w="562093"/>
                <a:gridCol w="562093"/>
                <a:gridCol w="562093"/>
                <a:gridCol w="562093"/>
                <a:gridCol w="562093"/>
              </a:tblGrid>
              <a:tr h="56507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</a:tr>
              <a:tr h="56507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6507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6507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6507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140678" y="2541552"/>
          <a:ext cx="50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5967" y="4993037"/>
            <a:ext cx="1143000" cy="5810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"/>
          <a:srcRect l="69383"/>
          <a:stretch>
            <a:fillRect/>
          </a:stretch>
        </p:blipFill>
        <p:spPr>
          <a:xfrm>
            <a:off x="5287434" y="4067348"/>
            <a:ext cx="349956" cy="5810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1"/>
          <a:srcRect r="62716"/>
          <a:stretch>
            <a:fillRect/>
          </a:stretch>
        </p:blipFill>
        <p:spPr>
          <a:xfrm>
            <a:off x="2524479" y="4977824"/>
            <a:ext cx="426156" cy="581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Erosion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Erosion is shrinking or thinning operation</a:t>
            </a:r>
            <a:endParaRPr lang="en-US" dirty="0"/>
          </a:p>
          <a:p>
            <a:r>
              <a:rPr lang="en-US" dirty="0"/>
              <a:t>The erosion of A by B is denoted by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4560" y="2332307"/>
            <a:ext cx="1143000" cy="5810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92" y="2913332"/>
            <a:ext cx="11153775" cy="33051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Erosion  Example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369422" y="1825625"/>
            <a:ext cx="2916331" cy="6392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885" y="1881285"/>
            <a:ext cx="9861896" cy="44819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Dilation grows or thickens object</a:t>
            </a:r>
            <a:endParaRPr lang="en-US" dirty="0"/>
          </a:p>
          <a:p>
            <a:r>
              <a:rPr lang="en-US" dirty="0"/>
              <a:t>The dilation of A and B is set of all displacement z, such that     and A overlap by at least one element.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9726" y="2418679"/>
            <a:ext cx="214503" cy="3722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834" y="3773722"/>
            <a:ext cx="5628909" cy="17762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Dilation 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98623" y="1690688"/>
            <a:ext cx="6608428" cy="43807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82587" y="1819897"/>
            <a:ext cx="1771650" cy="2962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659780" y="49894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Example of Dilation</a:t>
            </a:r>
            <a:endParaRPr lang="en-US" b="1" dirty="0"/>
          </a:p>
        </p:txBody>
      </p:sp>
      <p:graphicFrame>
        <p:nvGraphicFramePr>
          <p:cNvPr id="5" name="Content Placeholder 3"/>
          <p:cNvGraphicFramePr/>
          <p:nvPr/>
        </p:nvGraphicFramePr>
        <p:xfrm>
          <a:off x="838200" y="2252546"/>
          <a:ext cx="3488472" cy="28324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1412"/>
                <a:gridCol w="581412"/>
                <a:gridCol w="581412"/>
                <a:gridCol w="581412"/>
                <a:gridCol w="581412"/>
                <a:gridCol w="581412"/>
              </a:tblGrid>
              <a:tr h="472068"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</a:tr>
              <a:tr h="472068"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 </a:t>
                      </a:r>
                      <a:endParaRPr lang="en-US" sz="24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US" sz="24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</a:tr>
              <a:tr h="472068"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US" sz="24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</a:tr>
              <a:tr h="472068"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US" sz="24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US" sz="24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</a:tr>
              <a:tr h="472068"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US" sz="24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US" sz="24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</a:tr>
              <a:tr h="472068"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953621" y="2720898"/>
          <a:ext cx="1209288" cy="4683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4644"/>
                <a:gridCol w="604644"/>
              </a:tblGrid>
              <a:tr h="46835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US" sz="2400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US" sz="2400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949904" y="4077630"/>
          <a:ext cx="1209288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4644"/>
                <a:gridCol w="604644"/>
              </a:tblGrid>
              <a:tr h="46835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ontent Placeholder 3"/>
          <p:cNvGraphicFramePr/>
          <p:nvPr/>
        </p:nvGraphicFramePr>
        <p:xfrm>
          <a:off x="7686908" y="2204224"/>
          <a:ext cx="3488472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1412"/>
                <a:gridCol w="581412"/>
                <a:gridCol w="581412"/>
                <a:gridCol w="581412"/>
                <a:gridCol w="581412"/>
                <a:gridCol w="581412"/>
              </a:tblGrid>
              <a:tr h="472068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</a:tr>
              <a:tr h="472068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</a:tr>
              <a:tr h="472068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472068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</a:tr>
              <a:tr h="472068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472068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60848" y="4752159"/>
            <a:ext cx="1962615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Reflection of B 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51141" y="1984917"/>
            <a:ext cx="118203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Set 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776761" y="5164754"/>
            <a:ext cx="118203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Set 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716535" y="5387779"/>
            <a:ext cx="1877124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A       B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061" y="5621955"/>
            <a:ext cx="419100" cy="4572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156174" y="1566407"/>
            <a:ext cx="4642438" cy="50093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550256" y="3862120"/>
            <a:ext cx="4642438" cy="19838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659780" y="49894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Example of Dilation</a:t>
            </a:r>
            <a:endParaRPr lang="en-US" b="1" dirty="0"/>
          </a:p>
        </p:txBody>
      </p:sp>
      <p:graphicFrame>
        <p:nvGraphicFramePr>
          <p:cNvPr id="5" name="Content Placeholder 3"/>
          <p:cNvGraphicFramePr/>
          <p:nvPr/>
        </p:nvGraphicFramePr>
        <p:xfrm>
          <a:off x="838200" y="2252546"/>
          <a:ext cx="3488472" cy="28324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1412"/>
                <a:gridCol w="581412"/>
                <a:gridCol w="581412"/>
                <a:gridCol w="581412"/>
                <a:gridCol w="581412"/>
                <a:gridCol w="581412"/>
              </a:tblGrid>
              <a:tr h="472068"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</a:tr>
              <a:tr h="472068"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 </a:t>
                      </a:r>
                      <a:endParaRPr lang="en-US" sz="24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US" sz="24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</a:tr>
              <a:tr h="472068"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US" sz="24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</a:tr>
              <a:tr h="472068"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US" sz="24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US" sz="24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</a:tr>
              <a:tr h="472068"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US" sz="24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US" sz="24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</a:tr>
              <a:tr h="472068"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0</a:t>
                      </a:r>
                      <a:endParaRPr lang="en-US" sz="2400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953621" y="2720898"/>
          <a:ext cx="1209288" cy="4683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4644"/>
                <a:gridCol w="604644"/>
              </a:tblGrid>
              <a:tr h="46835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US" sz="2400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US" sz="2400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949904" y="4077630"/>
          <a:ext cx="1209288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4644"/>
                <a:gridCol w="604644"/>
              </a:tblGrid>
              <a:tr h="46835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ontent Placeholder 3"/>
          <p:cNvGraphicFramePr/>
          <p:nvPr/>
        </p:nvGraphicFramePr>
        <p:xfrm>
          <a:off x="7686908" y="2204224"/>
          <a:ext cx="3488472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1412"/>
                <a:gridCol w="581412"/>
                <a:gridCol w="581412"/>
                <a:gridCol w="581412"/>
                <a:gridCol w="581412"/>
                <a:gridCol w="581412"/>
              </a:tblGrid>
              <a:tr h="472068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</a:tr>
              <a:tr h="472068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</a:tr>
              <a:tr h="472068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472068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</a:tr>
              <a:tr h="472068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472068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en-US" sz="28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60848" y="4752159"/>
            <a:ext cx="1962615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Reflection of B 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51141" y="1984917"/>
            <a:ext cx="118203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Set 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776761" y="5164754"/>
            <a:ext cx="118203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Set 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716535" y="5387779"/>
            <a:ext cx="1877124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A       B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061" y="5621955"/>
            <a:ext cx="4191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Duality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Erosion and dilation are duals of each other with respect to set complementation and reflection.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52" y="2666604"/>
            <a:ext cx="2590800" cy="457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52" y="3258741"/>
            <a:ext cx="2390775" cy="495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012" y="3767931"/>
            <a:ext cx="3267075" cy="4667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290" y="4369593"/>
            <a:ext cx="3762375" cy="5810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290" y="5049440"/>
            <a:ext cx="3672882" cy="51117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3952" y="5659436"/>
            <a:ext cx="1543050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erosion followed by dilation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3471" y="2308321"/>
            <a:ext cx="2156420" cy="562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864" y="4433734"/>
            <a:ext cx="2714625" cy="5048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9228" y="3539629"/>
            <a:ext cx="49465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opening </a:t>
            </a:r>
            <a:r>
              <a:rPr lang="en-US" b="1" dirty="0"/>
              <a:t>of </a:t>
            </a:r>
            <a:r>
              <a:rPr lang="en-US" b="1" i="1" dirty="0"/>
              <a:t>A </a:t>
            </a:r>
            <a:r>
              <a:rPr lang="en-US" dirty="0"/>
              <a:t>by </a:t>
            </a:r>
            <a:r>
              <a:rPr lang="en-US" i="1" dirty="0"/>
              <a:t>B </a:t>
            </a:r>
            <a:r>
              <a:rPr lang="en-US" dirty="0"/>
              <a:t>is obtained by taking the</a:t>
            </a:r>
            <a:br>
              <a:rPr lang="en-US" dirty="0"/>
            </a:br>
            <a:r>
              <a:rPr lang="en-US" dirty="0"/>
              <a:t>union of all translates of B that fit into </a:t>
            </a:r>
            <a:r>
              <a:rPr lang="en-US" b="1" i="1" dirty="0"/>
              <a:t>A 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040" y="2870421"/>
            <a:ext cx="5601151" cy="29154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dilation followed by erosion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r="6195"/>
          <a:stretch>
            <a:fillRect/>
          </a:stretch>
        </p:blipFill>
        <p:spPr>
          <a:xfrm>
            <a:off x="1290763" y="2325757"/>
            <a:ext cx="2724898" cy="5446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89963" y="0"/>
            <a:ext cx="781207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21827" y="-1"/>
            <a:ext cx="9540718" cy="685800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Opening and Closing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Opening and closing are duals of each others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A   B is a subset or sub-image of A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is a subset or sub-image of A   B 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Once an image been opened or closed, the re-application of same operation has no effect.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582310" y="3027582"/>
            <a:ext cx="95415" cy="11318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710362" y="3521888"/>
            <a:ext cx="95415" cy="11318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952" y="5359400"/>
            <a:ext cx="2771775" cy="11334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227" y="2248136"/>
            <a:ext cx="2244172" cy="58889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Hit-or-Miss Transform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3200" b="1" dirty="0"/>
              <a:t>A basic tools to detect object with given shape and size</a:t>
            </a:r>
            <a:endParaRPr lang="en-US" sz="3200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Hit-or-Miss Transformation</a:t>
            </a:r>
            <a:endParaRPr lang="en-US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1442138"/>
          <a:ext cx="5082540" cy="25841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</a:tblGrid>
              <a:tr h="4306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699433" y="3757984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Set 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92126" y="6256071"/>
            <a:ext cx="2421988" cy="6019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Structure element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426026" y="5024660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X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884863" y="4990241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W</a:t>
            </a:r>
            <a:endParaRPr lang="en-US" b="1" dirty="0">
              <a:solidFill>
                <a:schemeClr val="tx1"/>
              </a:solidFill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711763" y="4480944"/>
          <a:ext cx="2133600" cy="19549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720"/>
                <a:gridCol w="426720"/>
                <a:gridCol w="426720"/>
                <a:gridCol w="426720"/>
                <a:gridCol w="426720"/>
              </a:tblGrid>
              <a:tr h="390991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9099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9099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9099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9099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9257256" y="4871936"/>
          <a:ext cx="1280160" cy="1172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720"/>
                <a:gridCol w="426720"/>
                <a:gridCol w="426720"/>
              </a:tblGrid>
              <a:tr h="3909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9099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909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Hit-or-Miss Transformation</a:t>
            </a:r>
            <a:endParaRPr lang="en-US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1440466"/>
          <a:ext cx="5082540" cy="25841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</a:tblGrid>
              <a:tr h="4306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12210" y="1440466"/>
          <a:ext cx="5082540" cy="25841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</a:tblGrid>
              <a:tr h="4306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4306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453401" y="4652554"/>
          <a:ext cx="2133600" cy="19549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720"/>
                <a:gridCol w="426720"/>
                <a:gridCol w="426720"/>
                <a:gridCol w="426720"/>
                <a:gridCol w="426720"/>
              </a:tblGrid>
              <a:tr h="3909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9099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9099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909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90991">
                <a:tc>
                  <a:txBody>
                    <a:bodyPr/>
                    <a:lstStyle/>
                    <a:p>
                      <a:endParaRPr lang="en-US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261358" y="3745591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Set 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753904" y="6143505"/>
            <a:ext cx="2421988" cy="6019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Structure element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47793" y="3738154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A Ɵ X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718558" y="5028972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X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-21092" y="4902590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W</a:t>
            </a:r>
            <a:endParaRPr lang="en-US" b="1" dirty="0">
              <a:solidFill>
                <a:schemeClr val="tx1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17096" y="4508695"/>
          <a:ext cx="2133600" cy="19549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720"/>
                <a:gridCol w="426720"/>
                <a:gridCol w="426720"/>
                <a:gridCol w="426720"/>
                <a:gridCol w="426720"/>
              </a:tblGrid>
              <a:tr h="390991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9099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9099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9099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9099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414323" y="4975740"/>
          <a:ext cx="1280160" cy="1172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720"/>
                <a:gridCol w="426720"/>
                <a:gridCol w="426720"/>
              </a:tblGrid>
              <a:tr h="3909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9099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909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428328" y="5099941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W-X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Hit-or-Miss Transformation</a:t>
            </a:r>
            <a:endParaRPr lang="en-US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9173" y="1469926"/>
          <a:ext cx="5082540" cy="25841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</a:tblGrid>
              <a:tr h="4306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8200" y="1467361"/>
          <a:ext cx="5082540" cy="25841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</a:tblGrid>
              <a:tr h="4306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4306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876712" y="3845169"/>
            <a:ext cx="136456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</a:t>
            </a:r>
            <a:r>
              <a:rPr lang="en-US" b="1" baseline="30000" dirty="0">
                <a:solidFill>
                  <a:schemeClr val="tx1"/>
                </a:solidFill>
              </a:rPr>
              <a:t>C</a:t>
            </a:r>
            <a:r>
              <a:rPr lang="en-US" b="1" dirty="0">
                <a:solidFill>
                  <a:schemeClr val="tx1"/>
                </a:solidFill>
              </a:rPr>
              <a:t> Ɵ (W-X)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082017" y="3845169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A complement</a:t>
            </a:r>
            <a:endParaRPr lang="en-US" b="1" dirty="0">
              <a:solidFill>
                <a:schemeClr val="tx1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179623" y="4759569"/>
          <a:ext cx="2133600" cy="19549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720"/>
                <a:gridCol w="426720"/>
                <a:gridCol w="426720"/>
                <a:gridCol w="426720"/>
                <a:gridCol w="426720"/>
              </a:tblGrid>
              <a:tr h="3909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9099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9099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909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90991">
                <a:tc>
                  <a:txBody>
                    <a:bodyPr/>
                    <a:lstStyle/>
                    <a:p>
                      <a:endParaRPr lang="en-US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4265223" y="5153731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W-X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Hit-or-Miss Transformation</a:t>
            </a:r>
            <a:endParaRPr lang="en-US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58948" y="1578147"/>
          <a:ext cx="5082540" cy="25841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</a:tblGrid>
              <a:tr h="4306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4306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065604" y="3926058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A Ɵ X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41185" y="5673969"/>
            <a:ext cx="5741966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 (A Ɵ X) </a:t>
            </a:r>
            <a:r>
              <a:rPr lang="en-US" sz="4400" b="1" dirty="0">
                <a:solidFill>
                  <a:schemeClr val="tx1"/>
                </a:solidFill>
              </a:rPr>
              <a:t>∩</a:t>
            </a:r>
            <a:r>
              <a:rPr lang="en-US" sz="3600" dirty="0">
                <a:solidFill>
                  <a:schemeClr val="tx1"/>
                </a:solidFill>
              </a:rPr>
              <a:t> (</a:t>
            </a:r>
            <a:r>
              <a:rPr lang="en-US" sz="3600" b="1" dirty="0">
                <a:solidFill>
                  <a:schemeClr val="tx1"/>
                </a:solidFill>
              </a:rPr>
              <a:t>A</a:t>
            </a:r>
            <a:r>
              <a:rPr lang="en-US" sz="3600" b="1" baseline="30000" dirty="0">
                <a:solidFill>
                  <a:schemeClr val="tx1"/>
                </a:solidFill>
              </a:rPr>
              <a:t>C</a:t>
            </a:r>
            <a:r>
              <a:rPr lang="en-US" sz="3600" b="1" dirty="0">
                <a:solidFill>
                  <a:schemeClr val="tx1"/>
                </a:solidFill>
              </a:rPr>
              <a:t> Ɵ (W-X)</a:t>
            </a:r>
            <a:r>
              <a:rPr lang="en-US" sz="3600" dirty="0">
                <a:solidFill>
                  <a:schemeClr val="tx1"/>
                </a:solidFill>
              </a:rPr>
              <a:t>) =?</a:t>
            </a:r>
            <a:endParaRPr lang="en-US" sz="3600" b="1" dirty="0">
              <a:solidFill>
                <a:schemeClr val="tx1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859173" y="1469926"/>
          <a:ext cx="5082540" cy="25841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  <a:gridCol w="423545"/>
              </a:tblGrid>
              <a:tr h="4306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06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8876712" y="3845169"/>
            <a:ext cx="136456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</a:t>
            </a:r>
            <a:r>
              <a:rPr lang="en-US" b="1" baseline="30000" dirty="0">
                <a:solidFill>
                  <a:schemeClr val="tx1"/>
                </a:solidFill>
              </a:rPr>
              <a:t>C</a:t>
            </a:r>
            <a:r>
              <a:rPr lang="en-US" b="1" dirty="0">
                <a:solidFill>
                  <a:schemeClr val="tx1"/>
                </a:solidFill>
              </a:rPr>
              <a:t> Ɵ (W-X)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4543864" y="2649415"/>
            <a:ext cx="914400" cy="914400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10439400" y="2534529"/>
            <a:ext cx="914400" cy="914400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Hit-or-Miss Transformation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Generalized equation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 = (B</a:t>
            </a:r>
            <a:r>
              <a:rPr lang="en-US" baseline="-25000" dirty="0"/>
              <a:t>1</a:t>
            </a:r>
            <a:r>
              <a:rPr lang="en-US" dirty="0"/>
              <a:t>, B</a:t>
            </a:r>
            <a:r>
              <a:rPr lang="en-US" baseline="-25000" dirty="0"/>
              <a:t>2</a:t>
            </a:r>
            <a:r>
              <a:rPr lang="en-US" dirty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       B = (A </a:t>
            </a:r>
            <a:r>
              <a:rPr lang="en-US" b="1" dirty="0">
                <a:solidFill>
                  <a:schemeClr val="tx1"/>
                </a:solidFill>
              </a:rPr>
              <a:t>Ɵ B</a:t>
            </a:r>
            <a:r>
              <a:rPr lang="en-US" b="1" baseline="-25000" dirty="0">
                <a:solidFill>
                  <a:schemeClr val="tx1"/>
                </a:solidFill>
              </a:rPr>
              <a:t>1</a:t>
            </a:r>
            <a:r>
              <a:rPr lang="en-US" dirty="0"/>
              <a:t> ) </a:t>
            </a:r>
            <a:r>
              <a:rPr lang="en-US" sz="3600" b="1" dirty="0">
                <a:solidFill>
                  <a:schemeClr val="tx1"/>
                </a:solidFill>
              </a:rPr>
              <a:t>∩</a:t>
            </a:r>
            <a:r>
              <a:rPr lang="en-US" dirty="0">
                <a:solidFill>
                  <a:schemeClr val="tx1"/>
                </a:solidFill>
              </a:rPr>
              <a:t> (</a:t>
            </a:r>
            <a:r>
              <a:rPr lang="en-US" b="1" dirty="0">
                <a:solidFill>
                  <a:schemeClr val="tx1"/>
                </a:solidFill>
              </a:rPr>
              <a:t>A</a:t>
            </a:r>
            <a:r>
              <a:rPr lang="en-US" b="1" baseline="30000" dirty="0">
                <a:solidFill>
                  <a:schemeClr val="tx1"/>
                </a:solidFill>
              </a:rPr>
              <a:t>C</a:t>
            </a:r>
            <a:r>
              <a:rPr lang="en-US" b="1" dirty="0">
                <a:solidFill>
                  <a:schemeClr val="tx1"/>
                </a:solidFill>
              </a:rPr>
              <a:t> Ɵ B</a:t>
            </a:r>
            <a:r>
              <a:rPr lang="en-US" b="1" baseline="-25000" dirty="0">
                <a:solidFill>
                  <a:schemeClr val="tx1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 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244276" y="2987299"/>
            <a:ext cx="367547" cy="3758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*</a:t>
            </a:r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Boundary Extraction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Detect the boundary of an object region</a:t>
                </a:r>
                <a:endParaRPr lang="en-US" dirty="0"/>
              </a:p>
              <a:p>
                <a:r>
                  <a:rPr lang="en-US" dirty="0"/>
                  <a:t>The boundary of a set A is denoted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If B is a suitable structuring element then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                                      </m:t>
                    </m:r>
                  </m:oMath>
                </a14:m>
                <a:endParaRPr lang="en-US" b="0" i="0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>
                    <a:solidFill>
                      <a:srgbClr val="00B050"/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−(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l-GR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𝛳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Boundary Extraction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913056" y="1845081"/>
          <a:ext cx="124381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606"/>
                <a:gridCol w="414606"/>
                <a:gridCol w="414606"/>
              </a:tblGrid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997611" y="5233182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A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51629" y="2757268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B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Boundary Extraction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913056" y="1845081"/>
          <a:ext cx="124381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606"/>
                <a:gridCol w="414606"/>
                <a:gridCol w="414606"/>
              </a:tblGrid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236761" y="5289452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A Ɵ 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95358" y="2771335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B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Boundary Extraction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913056" y="1845081"/>
          <a:ext cx="124381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606"/>
                <a:gridCol w="414606"/>
                <a:gridCol w="414606"/>
              </a:tblGrid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236761" y="5289452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A - A Ɵ 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95358" y="2771335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74232" y="5760719"/>
            <a:ext cx="661416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Boundary of an Object denoted by </a:t>
            </a:r>
            <a:r>
              <a:rPr lang="el-GR" sz="2400" b="1" dirty="0">
                <a:solidFill>
                  <a:schemeClr val="tx1"/>
                </a:solidFill>
              </a:rPr>
              <a:t>β</a:t>
            </a:r>
            <a:r>
              <a:rPr lang="en-US" sz="2400" b="1" dirty="0">
                <a:solidFill>
                  <a:schemeClr val="tx1"/>
                </a:solidFill>
              </a:rPr>
              <a:t>(A) = A - A Ɵ B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Boundary Extraction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244" y="1599848"/>
            <a:ext cx="9220200" cy="389483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541304" y="5152725"/>
          <a:ext cx="124381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606"/>
                <a:gridCol w="414606"/>
                <a:gridCol w="414606"/>
              </a:tblGrid>
              <a:tr h="18214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</a:tr>
              <a:tr h="18214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</a:tr>
              <a:tr h="18214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9980333" y="5518485"/>
            <a:ext cx="365760" cy="3657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Hole Filling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Fill up the hollow region within a boundary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Hole Filling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913056" y="1845081"/>
          <a:ext cx="124381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606"/>
                <a:gridCol w="414606"/>
                <a:gridCol w="414606"/>
              </a:tblGrid>
              <a:tr h="3657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*</a:t>
                      </a:r>
                      <a:endParaRPr lang="en-US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236761" y="5289452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Set A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95358" y="2771335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Set 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74232" y="5760719"/>
            <a:ext cx="661416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Hole Filling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913056" y="1845081"/>
          <a:ext cx="124381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606"/>
                <a:gridCol w="414606"/>
                <a:gridCol w="414606"/>
              </a:tblGrid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*</a:t>
                      </a:r>
                      <a:endParaRPr lang="en-US" dirty="0"/>
                    </a:p>
                  </a:txBody>
                  <a:tcPr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236761" y="5289452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Set A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95358" y="2771335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Set 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74232" y="5760719"/>
            <a:ext cx="661416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94736" y="5638799"/>
            <a:ext cx="3674015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 have a pixel named </a:t>
            </a:r>
            <a:r>
              <a:rPr lang="en-US" b="1" dirty="0">
                <a:solidFill>
                  <a:schemeClr val="tx1"/>
                </a:solidFill>
              </a:rPr>
              <a:t>P 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2883877" y="4712677"/>
            <a:ext cx="2363372" cy="1266092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679785" y="3498164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It’s an iterative process</a:t>
            </a:r>
            <a:endParaRPr lang="en-US" sz="2800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Let assume </a:t>
            </a:r>
            <a:r>
              <a:rPr lang="en-US" sz="2800" b="1" dirty="0">
                <a:solidFill>
                  <a:schemeClr val="accent2"/>
                </a:solidFill>
              </a:rPr>
              <a:t>X</a:t>
            </a:r>
            <a:r>
              <a:rPr lang="en-US" sz="2800" b="1" baseline="-25000" dirty="0">
                <a:solidFill>
                  <a:schemeClr val="accent2"/>
                </a:solidFill>
              </a:rPr>
              <a:t>0</a:t>
            </a:r>
            <a:r>
              <a:rPr lang="en-US" sz="2800" b="1" dirty="0">
                <a:solidFill>
                  <a:schemeClr val="accent2"/>
                </a:solidFill>
              </a:rPr>
              <a:t> = P </a:t>
            </a:r>
            <a:endParaRPr lang="en-US" sz="2800" b="1" dirty="0">
              <a:solidFill>
                <a:schemeClr val="accent2"/>
              </a:solidFill>
            </a:endParaRPr>
          </a:p>
          <a:p>
            <a:pPr algn="ctr"/>
            <a:r>
              <a:rPr lang="en-US" sz="2800" dirty="0" err="1">
                <a:solidFill>
                  <a:schemeClr val="tx1"/>
                </a:solidFill>
              </a:rPr>
              <a:t>X</a:t>
            </a:r>
            <a:r>
              <a:rPr lang="en-US" sz="2800" baseline="-25000" dirty="0" err="1">
                <a:solidFill>
                  <a:schemeClr val="tx1"/>
                </a:solidFill>
              </a:rPr>
              <a:t>k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k-1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</a:t>
            </a:r>
            <a:r>
              <a:rPr lang="en-US" sz="2800" baseline="30000" dirty="0">
                <a:solidFill>
                  <a:schemeClr val="tx1"/>
                </a:solidFill>
              </a:rPr>
              <a:t>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8656" y="5126066"/>
            <a:ext cx="246186" cy="33688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Hole Filling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913056" y="1845081"/>
          <a:ext cx="124381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606"/>
                <a:gridCol w="414606"/>
                <a:gridCol w="414606"/>
              </a:tblGrid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*</a:t>
                      </a:r>
                      <a:endParaRPr lang="en-US" dirty="0"/>
                    </a:p>
                  </a:txBody>
                  <a:tcPr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236761" y="5289452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</a:t>
            </a:r>
            <a:r>
              <a:rPr lang="en-US" baseline="-25000" dirty="0">
                <a:solidFill>
                  <a:schemeClr val="tx1"/>
                </a:solidFill>
              </a:rPr>
              <a:t>0</a:t>
            </a:r>
            <a:r>
              <a:rPr lang="en-US" dirty="0">
                <a:solidFill>
                  <a:schemeClr val="tx1"/>
                </a:solidFill>
              </a:rPr>
              <a:t>     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95358" y="2771335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Set 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74232" y="5760719"/>
            <a:ext cx="661416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34883" y="3512232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Iteration 1</a:t>
            </a:r>
            <a:endParaRPr lang="en-US" sz="3600" b="1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 X</a:t>
            </a:r>
            <a:r>
              <a:rPr lang="en-US" sz="2800" baseline="-25000" dirty="0">
                <a:solidFill>
                  <a:schemeClr val="tx1"/>
                </a:solidFill>
              </a:rPr>
              <a:t>0</a:t>
            </a:r>
            <a:r>
              <a:rPr lang="en-US" sz="2800" dirty="0">
                <a:solidFill>
                  <a:schemeClr val="tx1"/>
                </a:solidFill>
              </a:rPr>
              <a:t> = P = 1</a:t>
            </a:r>
            <a:endParaRPr lang="en-US" sz="2800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1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0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</a:t>
            </a:r>
            <a:r>
              <a:rPr lang="en-US" sz="2800" baseline="30000" dirty="0">
                <a:solidFill>
                  <a:schemeClr val="tx1"/>
                </a:solidFill>
              </a:rPr>
              <a:t>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797" y="5221828"/>
            <a:ext cx="246186" cy="33688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1035" y="5592276"/>
            <a:ext cx="246186" cy="33688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Hole Filling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68227" y="365125"/>
          <a:ext cx="124381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606"/>
                <a:gridCol w="414606"/>
                <a:gridCol w="414606"/>
              </a:tblGrid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*</a:t>
                      </a:r>
                      <a:endParaRPr lang="en-US" dirty="0"/>
                    </a:p>
                  </a:txBody>
                  <a:tcPr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236761" y="5289452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Set A</a:t>
            </a:r>
            <a:r>
              <a:rPr lang="en-US" b="1" baseline="30000" dirty="0">
                <a:solidFill>
                  <a:schemeClr val="tx1"/>
                </a:solidFill>
              </a:rPr>
              <a:t>c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046718" y="5760719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74232" y="5760719"/>
            <a:ext cx="661416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</a:t>
            </a:r>
            <a:endParaRPr lang="en-US" sz="2400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Content Placeholder 3"/>
          <p:cNvGraphicFramePr/>
          <p:nvPr/>
        </p:nvGraphicFramePr>
        <p:xfrm>
          <a:off x="6716152" y="1884118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199118" y="5303519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</a:t>
            </a:r>
            <a:r>
              <a:rPr lang="en-US" baseline="-25000" dirty="0">
                <a:solidFill>
                  <a:schemeClr val="tx1"/>
                </a:solidFill>
              </a:rPr>
              <a:t>0</a:t>
            </a:r>
            <a:r>
              <a:rPr lang="en-US" dirty="0">
                <a:solidFill>
                  <a:schemeClr val="tx1"/>
                </a:solidFill>
              </a:rPr>
              <a:t>     B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3392" y="5606344"/>
            <a:ext cx="246186" cy="33688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06348" y="5760719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917240" y="4590386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1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0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</a:t>
            </a:r>
            <a:r>
              <a:rPr lang="en-US" sz="2800" baseline="30000" dirty="0">
                <a:solidFill>
                  <a:schemeClr val="tx1"/>
                </a:solidFill>
              </a:rPr>
              <a:t>c</a:t>
            </a:r>
            <a:r>
              <a:rPr lang="en-US" sz="2800" dirty="0">
                <a:solidFill>
                  <a:schemeClr val="tx1"/>
                </a:solidFill>
              </a:rPr>
              <a:t> =?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8236" y="6035409"/>
            <a:ext cx="246186" cy="33688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Hole Filling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913056" y="1845081"/>
          <a:ext cx="124381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606"/>
                <a:gridCol w="414606"/>
                <a:gridCol w="414606"/>
              </a:tblGrid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*</a:t>
                      </a:r>
                      <a:endParaRPr lang="en-US" dirty="0"/>
                    </a:p>
                  </a:txBody>
                  <a:tcPr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595358" y="2771335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Set 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74232" y="5760719"/>
            <a:ext cx="661416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34883" y="3512232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Iteration 2</a:t>
            </a:r>
            <a:endParaRPr lang="en-US" sz="2800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2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1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</a:t>
            </a:r>
            <a:r>
              <a:rPr lang="en-US" sz="2800" baseline="30000" dirty="0">
                <a:solidFill>
                  <a:schemeClr val="tx1"/>
                </a:solidFill>
              </a:rPr>
              <a:t>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797" y="5024876"/>
            <a:ext cx="246186" cy="3368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366904" y="4407875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1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0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</a:t>
            </a:r>
            <a:r>
              <a:rPr lang="en-US" sz="2800" baseline="30000" dirty="0">
                <a:solidFill>
                  <a:schemeClr val="tx1"/>
                </a:solidFill>
              </a:rPr>
              <a:t>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0818" y="5634106"/>
            <a:ext cx="246186" cy="3368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Hole Filling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dirty="0"/>
                        <a:t> 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913056" y="1845081"/>
          <a:ext cx="124381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606"/>
                <a:gridCol w="414606"/>
                <a:gridCol w="414606"/>
              </a:tblGrid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*</a:t>
                      </a:r>
                      <a:endParaRPr lang="en-US" dirty="0"/>
                    </a:p>
                  </a:txBody>
                  <a:tcPr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595358" y="2771335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Set 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74232" y="5760719"/>
            <a:ext cx="661416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34883" y="3512232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Iteration 3</a:t>
            </a:r>
            <a:endParaRPr lang="en-US" sz="2800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3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2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</a:t>
            </a:r>
            <a:r>
              <a:rPr lang="en-US" sz="2800" baseline="30000" dirty="0">
                <a:solidFill>
                  <a:schemeClr val="tx1"/>
                </a:solidFill>
              </a:rPr>
              <a:t>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797" y="5024876"/>
            <a:ext cx="246186" cy="3368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366904" y="4407875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2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1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</a:t>
            </a:r>
            <a:r>
              <a:rPr lang="en-US" sz="2800" baseline="30000" dirty="0">
                <a:solidFill>
                  <a:schemeClr val="tx1"/>
                </a:solidFill>
              </a:rPr>
              <a:t>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0818" y="5634106"/>
            <a:ext cx="246186" cy="3368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Hole Filling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dirty="0"/>
                        <a:t> 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913056" y="1845081"/>
          <a:ext cx="124381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606"/>
                <a:gridCol w="414606"/>
                <a:gridCol w="414606"/>
              </a:tblGrid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*</a:t>
                      </a:r>
                      <a:endParaRPr lang="en-US" dirty="0"/>
                    </a:p>
                  </a:txBody>
                  <a:tcPr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595358" y="2771335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Set 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74232" y="5760719"/>
            <a:ext cx="661416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34883" y="3512232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Iteration 4</a:t>
            </a:r>
            <a:endParaRPr lang="en-US" sz="2800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4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3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</a:t>
            </a:r>
            <a:r>
              <a:rPr lang="en-US" sz="2800" baseline="30000" dirty="0">
                <a:solidFill>
                  <a:schemeClr val="tx1"/>
                </a:solidFill>
              </a:rPr>
              <a:t>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797" y="5024876"/>
            <a:ext cx="246186" cy="3368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366904" y="4407875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3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2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</a:t>
            </a:r>
            <a:r>
              <a:rPr lang="en-US" sz="2800" baseline="30000" dirty="0">
                <a:solidFill>
                  <a:schemeClr val="tx1"/>
                </a:solidFill>
              </a:rPr>
              <a:t>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0818" y="5634106"/>
            <a:ext cx="246186" cy="3368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Hole Filling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dirty="0"/>
                        <a:t> 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913056" y="1845081"/>
          <a:ext cx="124381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606"/>
                <a:gridCol w="414606"/>
                <a:gridCol w="414606"/>
              </a:tblGrid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*</a:t>
                      </a:r>
                      <a:endParaRPr lang="en-US" dirty="0"/>
                    </a:p>
                  </a:txBody>
                  <a:tcPr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595358" y="2771335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Set 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74232" y="5760719"/>
            <a:ext cx="661416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34883" y="3512232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Iteration 5</a:t>
            </a:r>
            <a:endParaRPr lang="en-US" sz="2800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5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4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</a:t>
            </a:r>
            <a:r>
              <a:rPr lang="en-US" sz="2800" baseline="30000" dirty="0">
                <a:solidFill>
                  <a:schemeClr val="tx1"/>
                </a:solidFill>
              </a:rPr>
              <a:t>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797" y="5024876"/>
            <a:ext cx="246186" cy="3368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366904" y="4407875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4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3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</a:t>
            </a:r>
            <a:r>
              <a:rPr lang="en-US" sz="2800" baseline="30000" dirty="0">
                <a:solidFill>
                  <a:schemeClr val="tx1"/>
                </a:solidFill>
              </a:rPr>
              <a:t>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0818" y="5634106"/>
            <a:ext cx="246186" cy="3368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Hole Filling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dirty="0"/>
                        <a:t> 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913056" y="1845081"/>
          <a:ext cx="124381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606"/>
                <a:gridCol w="414606"/>
                <a:gridCol w="414606"/>
              </a:tblGrid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*</a:t>
                      </a:r>
                      <a:endParaRPr lang="en-US" dirty="0"/>
                    </a:p>
                  </a:txBody>
                  <a:tcPr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595358" y="2771335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Set 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16435" y="5802549"/>
            <a:ext cx="661416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34883" y="3512232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Iteration 6</a:t>
            </a:r>
            <a:endParaRPr lang="en-US" sz="2800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6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5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</a:t>
            </a:r>
            <a:r>
              <a:rPr lang="en-US" sz="2800" baseline="30000" dirty="0">
                <a:solidFill>
                  <a:schemeClr val="tx1"/>
                </a:solidFill>
              </a:rPr>
              <a:t>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797" y="5024876"/>
            <a:ext cx="246186" cy="3368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366904" y="4407875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5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4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</a:t>
            </a:r>
            <a:r>
              <a:rPr lang="en-US" sz="2800" baseline="30000" dirty="0">
                <a:solidFill>
                  <a:schemeClr val="tx1"/>
                </a:solidFill>
              </a:rPr>
              <a:t>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0818" y="5634106"/>
            <a:ext cx="246186" cy="3368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Hole Filling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</a:t>
                      </a:r>
                      <a:endParaRPr lang="en-US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</a:t>
                      </a:r>
                      <a:endParaRPr lang="en-US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dirty="0"/>
                        <a:t> 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913056" y="1845081"/>
          <a:ext cx="124381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606"/>
                <a:gridCol w="414606"/>
                <a:gridCol w="414606"/>
              </a:tblGrid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*</a:t>
                      </a:r>
                      <a:endParaRPr lang="en-US" dirty="0"/>
                    </a:p>
                  </a:txBody>
                  <a:tcPr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595358" y="2771335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Set 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16435" y="5802549"/>
            <a:ext cx="661416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34883" y="3512232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Iteration 7</a:t>
            </a:r>
            <a:endParaRPr lang="en-US" sz="2800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7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6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</a:t>
            </a:r>
            <a:r>
              <a:rPr lang="en-US" sz="2800" baseline="30000" dirty="0">
                <a:solidFill>
                  <a:schemeClr val="tx1"/>
                </a:solidFill>
              </a:rPr>
              <a:t>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797" y="5024876"/>
            <a:ext cx="246186" cy="3368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366904" y="4407875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6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5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</a:t>
            </a:r>
            <a:r>
              <a:rPr lang="en-US" sz="2800" baseline="30000" dirty="0">
                <a:solidFill>
                  <a:schemeClr val="tx1"/>
                </a:solidFill>
              </a:rPr>
              <a:t>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0818" y="5634106"/>
            <a:ext cx="246186" cy="3368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Hole Filling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</a:t>
                      </a:r>
                      <a:endParaRPr lang="en-US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</a:t>
                      </a:r>
                      <a:endParaRPr lang="en-US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dirty="0"/>
                        <a:t> 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913056" y="1845081"/>
          <a:ext cx="124381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606"/>
                <a:gridCol w="414606"/>
                <a:gridCol w="414606"/>
              </a:tblGrid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*</a:t>
                      </a:r>
                      <a:endParaRPr lang="en-US" dirty="0"/>
                    </a:p>
                  </a:txBody>
                  <a:tcPr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595358" y="2771335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Set 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16435" y="5802549"/>
            <a:ext cx="661416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80524" y="3429000"/>
            <a:ext cx="3674015" cy="17812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Process terminate</a:t>
            </a:r>
            <a:endParaRPr lang="en-US" sz="2800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7</a:t>
            </a:r>
            <a:r>
              <a:rPr lang="en-US" sz="2800" dirty="0">
                <a:solidFill>
                  <a:schemeClr val="tx1"/>
                </a:solidFill>
              </a:rPr>
              <a:t> = X</a:t>
            </a:r>
            <a:r>
              <a:rPr lang="en-US" sz="2800" baseline="-25000" dirty="0">
                <a:solidFill>
                  <a:schemeClr val="tx1"/>
                </a:solidFill>
              </a:rPr>
              <a:t>6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endParaRPr lang="en-US" sz="2800" baseline="-25000" dirty="0">
              <a:solidFill>
                <a:schemeClr val="tx1"/>
              </a:solidFill>
            </a:endParaRPr>
          </a:p>
          <a:p>
            <a:pPr algn="ctr"/>
            <a:r>
              <a:rPr lang="en-US" sz="2800" dirty="0" err="1">
                <a:solidFill>
                  <a:schemeClr val="tx1"/>
                </a:solidFill>
              </a:rPr>
              <a:t>X</a:t>
            </a:r>
            <a:r>
              <a:rPr lang="en-US" sz="2800" baseline="-25000" dirty="0" err="1">
                <a:solidFill>
                  <a:schemeClr val="tx1"/>
                </a:solidFill>
              </a:rPr>
              <a:t>k</a:t>
            </a:r>
            <a:r>
              <a:rPr lang="en-US" sz="2800" dirty="0">
                <a:solidFill>
                  <a:schemeClr val="tx1"/>
                </a:solidFill>
              </a:rPr>
              <a:t> = X</a:t>
            </a:r>
            <a:r>
              <a:rPr lang="en-US" sz="2800" baseline="-25000" dirty="0">
                <a:solidFill>
                  <a:schemeClr val="tx1"/>
                </a:solidFill>
              </a:rPr>
              <a:t>k-1</a:t>
            </a:r>
            <a:endParaRPr lang="en-US" sz="2800" baseline="-250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66904" y="4407875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7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6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</a:t>
            </a:r>
            <a:r>
              <a:rPr lang="en-US" sz="2800" baseline="30000" dirty="0">
                <a:solidFill>
                  <a:schemeClr val="tx1"/>
                </a:solidFill>
              </a:rPr>
              <a:t>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0818" y="5634106"/>
            <a:ext cx="246186" cy="3368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6672020" y="5483225"/>
                <a:ext cx="25494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00B050"/>
                    </a:solidFill>
                  </a:rPr>
                  <a:t>Final Set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sz="240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</a:t>
                </a:r>
                <a:endParaRPr 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020" y="5483225"/>
                <a:ext cx="2549472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3" r="1" b="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Hole Filling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0622" y="1601081"/>
            <a:ext cx="10586164" cy="512709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Extraction of Connected Components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913056" y="1845081"/>
          <a:ext cx="124381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606"/>
                <a:gridCol w="414606"/>
                <a:gridCol w="414606"/>
              </a:tblGrid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*</a:t>
                      </a:r>
                      <a:endParaRPr lang="en-US" dirty="0"/>
                    </a:p>
                  </a:txBody>
                  <a:tcPr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236761" y="5289452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Set A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95358" y="2771335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Set 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74232" y="5760719"/>
            <a:ext cx="661416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94736" y="5638799"/>
            <a:ext cx="3674015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 have a pixel named </a:t>
            </a:r>
            <a:r>
              <a:rPr lang="en-US" b="1" dirty="0">
                <a:solidFill>
                  <a:schemeClr val="tx1"/>
                </a:solidFill>
              </a:rPr>
              <a:t>P 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2785402" y="4345744"/>
            <a:ext cx="2624798" cy="1635369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679785" y="3498164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It’s an iterative process</a:t>
            </a:r>
            <a:endParaRPr lang="en-US" sz="2800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Let assume X</a:t>
            </a:r>
            <a:r>
              <a:rPr lang="en-US" sz="2800" baseline="-25000" dirty="0">
                <a:solidFill>
                  <a:schemeClr val="tx1"/>
                </a:solidFill>
              </a:rPr>
              <a:t>0</a:t>
            </a:r>
            <a:r>
              <a:rPr lang="en-US" sz="2800" dirty="0">
                <a:solidFill>
                  <a:schemeClr val="tx1"/>
                </a:solidFill>
              </a:rPr>
              <a:t> = P </a:t>
            </a:r>
            <a:endParaRPr lang="en-US" sz="2800" dirty="0">
              <a:solidFill>
                <a:schemeClr val="tx1"/>
              </a:solidFill>
            </a:endParaRPr>
          </a:p>
          <a:p>
            <a:pPr algn="ctr"/>
            <a:r>
              <a:rPr lang="en-US" sz="2800" dirty="0" err="1">
                <a:solidFill>
                  <a:schemeClr val="tx1"/>
                </a:solidFill>
              </a:rPr>
              <a:t>X</a:t>
            </a:r>
            <a:r>
              <a:rPr lang="en-US" sz="2800" baseline="-25000" dirty="0" err="1">
                <a:solidFill>
                  <a:schemeClr val="tx1"/>
                </a:solidFill>
              </a:rPr>
              <a:t>k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k-1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8656" y="5126066"/>
            <a:ext cx="246186" cy="33688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Extraction of Connected Components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913056" y="1845081"/>
          <a:ext cx="124381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606"/>
                <a:gridCol w="414606"/>
                <a:gridCol w="414606"/>
              </a:tblGrid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*</a:t>
                      </a:r>
                      <a:endParaRPr lang="en-US" dirty="0"/>
                    </a:p>
                  </a:txBody>
                  <a:tcPr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623492" y="2750343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Set 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74232" y="5760719"/>
            <a:ext cx="661416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</a:t>
            </a:r>
            <a:endParaRPr lang="en-US" sz="2400" b="1" dirty="0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8656" y="5126066"/>
            <a:ext cx="246186" cy="33688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34883" y="3432516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Iteration 1</a:t>
            </a:r>
            <a:endParaRPr lang="en-US" sz="3600" b="1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 X</a:t>
            </a:r>
            <a:r>
              <a:rPr lang="en-US" sz="2800" baseline="-25000" dirty="0">
                <a:solidFill>
                  <a:schemeClr val="tx1"/>
                </a:solidFill>
              </a:rPr>
              <a:t>0</a:t>
            </a:r>
            <a:r>
              <a:rPr lang="en-US" sz="2800" dirty="0">
                <a:solidFill>
                  <a:schemeClr val="tx1"/>
                </a:solidFill>
              </a:rPr>
              <a:t> = P </a:t>
            </a:r>
            <a:endParaRPr lang="en-US" sz="2800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1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0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 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36761" y="5289452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</a:t>
            </a:r>
            <a:r>
              <a:rPr lang="en-US" baseline="-25000" dirty="0">
                <a:solidFill>
                  <a:schemeClr val="tx1"/>
                </a:solidFill>
              </a:rPr>
              <a:t>0</a:t>
            </a:r>
            <a:r>
              <a:rPr lang="en-US" dirty="0">
                <a:solidFill>
                  <a:schemeClr val="tx1"/>
                </a:solidFill>
              </a:rPr>
              <a:t>     B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1035" y="5592276"/>
            <a:ext cx="246186" cy="33688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Extraction of Connected Components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274232" y="5760719"/>
            <a:ext cx="661416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36761" y="5289452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</a:t>
            </a:r>
            <a:r>
              <a:rPr lang="en-US" baseline="-25000" dirty="0">
                <a:solidFill>
                  <a:schemeClr val="tx1"/>
                </a:solidFill>
              </a:rPr>
              <a:t>0</a:t>
            </a:r>
            <a:r>
              <a:rPr lang="en-US" dirty="0">
                <a:solidFill>
                  <a:schemeClr val="tx1"/>
                </a:solidFill>
              </a:rPr>
              <a:t>     B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1035" y="5592276"/>
            <a:ext cx="246186" cy="336886"/>
          </a:xfrm>
          <a:prstGeom prst="rect">
            <a:avLst/>
          </a:prstGeom>
        </p:spPr>
      </p:pic>
      <p:graphicFrame>
        <p:nvGraphicFramePr>
          <p:cNvPr id="11" name="Content Placeholder 3"/>
          <p:cNvGraphicFramePr/>
          <p:nvPr/>
        </p:nvGraphicFramePr>
        <p:xfrm>
          <a:off x="6382044" y="1809213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706748" y="5289452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Set A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917240" y="4590386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1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0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 =?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8236" y="6035409"/>
            <a:ext cx="246186" cy="33688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Extraction of Connected Components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913056" y="1845081"/>
          <a:ext cx="124381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606"/>
                <a:gridCol w="414606"/>
                <a:gridCol w="414606"/>
              </a:tblGrid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*</a:t>
                      </a:r>
                      <a:endParaRPr lang="en-US" dirty="0"/>
                    </a:p>
                  </a:txBody>
                  <a:tcPr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623492" y="2750343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Set 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74232" y="5760719"/>
            <a:ext cx="661416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</a:t>
            </a:r>
            <a:endParaRPr lang="en-US" sz="2400" b="1" dirty="0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4589" y="4929118"/>
            <a:ext cx="246186" cy="33688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34883" y="3432516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Iteration 2</a:t>
            </a:r>
            <a:endParaRPr lang="en-US" sz="3600" b="1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2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1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 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66904" y="4407875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1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0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0818" y="5634106"/>
            <a:ext cx="246186" cy="3368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Extraction of Connected Components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913056" y="1845081"/>
          <a:ext cx="124381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606"/>
                <a:gridCol w="414606"/>
                <a:gridCol w="414606"/>
              </a:tblGrid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*</a:t>
                      </a:r>
                      <a:endParaRPr lang="en-US" dirty="0"/>
                    </a:p>
                  </a:txBody>
                  <a:tcPr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623492" y="2750343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Set 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74232" y="5760719"/>
            <a:ext cx="661416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</a:t>
            </a:r>
            <a:endParaRPr lang="en-US" sz="2400" b="1" dirty="0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4589" y="4929118"/>
            <a:ext cx="246186" cy="33688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34883" y="3432516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Iteration 3</a:t>
            </a:r>
            <a:endParaRPr lang="en-US" sz="3600" b="1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3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2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 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66904" y="4407875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2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1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0818" y="5634106"/>
            <a:ext cx="246186" cy="3368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Extraction of Connected Components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913056" y="1845081"/>
          <a:ext cx="124381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606"/>
                <a:gridCol w="414606"/>
                <a:gridCol w="414606"/>
              </a:tblGrid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*</a:t>
                      </a:r>
                      <a:endParaRPr lang="en-US" dirty="0"/>
                    </a:p>
                  </a:txBody>
                  <a:tcPr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623492" y="2750343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Set 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74232" y="5760719"/>
            <a:ext cx="661416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</a:t>
            </a:r>
            <a:endParaRPr lang="en-US" sz="2400" b="1" dirty="0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4589" y="4929118"/>
            <a:ext cx="246186" cy="33688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34883" y="3432516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Iteration 4</a:t>
            </a:r>
            <a:endParaRPr lang="en-US" sz="3600" b="1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4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3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 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66904" y="4407875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3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2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0818" y="5634106"/>
            <a:ext cx="246186" cy="3368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Extraction of Connected Components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913056" y="1845081"/>
          <a:ext cx="124381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606"/>
                <a:gridCol w="414606"/>
                <a:gridCol w="414606"/>
              </a:tblGrid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*</a:t>
                      </a:r>
                      <a:endParaRPr lang="en-US" dirty="0"/>
                    </a:p>
                  </a:txBody>
                  <a:tcPr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623492" y="2750343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Set 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74232" y="5760719"/>
            <a:ext cx="661416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</a:t>
            </a:r>
            <a:endParaRPr lang="en-US" sz="2400" b="1" dirty="0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4589" y="4929118"/>
            <a:ext cx="246186" cy="33688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34883" y="3432516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Iteration 5</a:t>
            </a:r>
            <a:endParaRPr lang="en-US" sz="3600" b="1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5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4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 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66904" y="4407875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4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3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0818" y="5634106"/>
            <a:ext cx="246186" cy="3368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Extraction of Connected Components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913056" y="1845081"/>
          <a:ext cx="124381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606"/>
                <a:gridCol w="414606"/>
                <a:gridCol w="414606"/>
              </a:tblGrid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*</a:t>
                      </a:r>
                      <a:endParaRPr lang="en-US" dirty="0"/>
                    </a:p>
                  </a:txBody>
                  <a:tcPr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623492" y="2750343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Set 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74232" y="5760719"/>
            <a:ext cx="661416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</a:t>
            </a:r>
            <a:endParaRPr lang="en-US" sz="2400" b="1" dirty="0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4589" y="4929118"/>
            <a:ext cx="246186" cy="33688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34883" y="3432516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Iteration 6</a:t>
            </a:r>
            <a:endParaRPr lang="en-US" sz="3600" b="1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6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5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 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66904" y="4407875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5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4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0818" y="5634106"/>
            <a:ext cx="246186" cy="3368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Extraction of Connected Components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913056" y="1845081"/>
          <a:ext cx="124381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606"/>
                <a:gridCol w="414606"/>
                <a:gridCol w="414606"/>
              </a:tblGrid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*</a:t>
                      </a:r>
                      <a:endParaRPr lang="en-US" dirty="0"/>
                    </a:p>
                  </a:txBody>
                  <a:tcPr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623492" y="2750343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Set 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74232" y="5760719"/>
            <a:ext cx="661416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</a:t>
            </a:r>
            <a:endParaRPr lang="en-US" sz="2400" b="1" dirty="0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4589" y="4929118"/>
            <a:ext cx="246186" cy="33688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34883" y="3432516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Iteration 7</a:t>
            </a:r>
            <a:endParaRPr lang="en-US" sz="3600" b="1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7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6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 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66904" y="4407875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6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5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0818" y="5634106"/>
            <a:ext cx="246186" cy="3368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Extraction of Connected Components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913056" y="1845081"/>
          <a:ext cx="124381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606"/>
                <a:gridCol w="414606"/>
                <a:gridCol w="414606"/>
              </a:tblGrid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*</a:t>
                      </a:r>
                      <a:endParaRPr lang="en-US" dirty="0"/>
                    </a:p>
                  </a:txBody>
                  <a:tcPr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82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623492" y="2750343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Set 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74232" y="5760719"/>
            <a:ext cx="661416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79785" y="3378866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Process Terminate</a:t>
            </a:r>
            <a:endParaRPr lang="en-US" sz="2800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7</a:t>
            </a:r>
            <a:r>
              <a:rPr lang="en-US" sz="2800" dirty="0">
                <a:solidFill>
                  <a:schemeClr val="tx1"/>
                </a:solidFill>
              </a:rPr>
              <a:t> = X</a:t>
            </a:r>
            <a:r>
              <a:rPr lang="en-US" sz="2800" baseline="-25000" dirty="0">
                <a:solidFill>
                  <a:schemeClr val="tx1"/>
                </a:solidFill>
              </a:rPr>
              <a:t>6</a:t>
            </a:r>
            <a:r>
              <a:rPr lang="en-US" sz="2800" dirty="0">
                <a:solidFill>
                  <a:schemeClr val="tx1"/>
                </a:solidFill>
              </a:rPr>
              <a:t>  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66904" y="4407875"/>
            <a:ext cx="3674015" cy="2705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</a:rPr>
              <a:t>7</a:t>
            </a:r>
            <a:r>
              <a:rPr lang="en-US" sz="2800" dirty="0">
                <a:solidFill>
                  <a:schemeClr val="tx1"/>
                </a:solidFill>
              </a:rPr>
              <a:t> = (X</a:t>
            </a:r>
            <a:r>
              <a:rPr lang="en-US" sz="2800" baseline="-25000" dirty="0">
                <a:solidFill>
                  <a:schemeClr val="tx1"/>
                </a:solidFill>
              </a:rPr>
              <a:t>6</a:t>
            </a:r>
            <a:r>
              <a:rPr lang="en-US" sz="2800" dirty="0">
                <a:solidFill>
                  <a:schemeClr val="tx1"/>
                </a:solidFill>
              </a:rPr>
              <a:t>     B) </a:t>
            </a:r>
            <a:r>
              <a:rPr lang="en-US" sz="2800" b="1" dirty="0">
                <a:solidFill>
                  <a:schemeClr val="tx1"/>
                </a:solidFill>
              </a:rPr>
              <a:t>∩</a:t>
            </a:r>
            <a:r>
              <a:rPr lang="en-US" sz="2800" dirty="0">
                <a:solidFill>
                  <a:schemeClr val="tx1"/>
                </a:solidFill>
              </a:rPr>
              <a:t> A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0818" y="5634106"/>
            <a:ext cx="246186" cy="3368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Hull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Set A is said to be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convex</a:t>
                </a:r>
                <a:r>
                  <a:rPr lang="en-US" dirty="0"/>
                  <a:t> if the straight line segment joining any two points in A lies entirely within A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convex hull </a:t>
                </a:r>
                <a:r>
                  <a:rPr lang="en-US" dirty="0">
                    <a:solidFill>
                      <a:srgbClr val="00B050"/>
                    </a:solidFill>
                  </a:rPr>
                  <a:t>H</a:t>
                </a:r>
                <a:r>
                  <a:rPr lang="en-US" dirty="0"/>
                  <a:t> of an arbitrary set </a:t>
                </a:r>
                <a:r>
                  <a:rPr lang="en-US" dirty="0">
                    <a:solidFill>
                      <a:srgbClr val="00B050"/>
                    </a:solidFill>
                  </a:rPr>
                  <a:t>S</a:t>
                </a:r>
                <a:r>
                  <a:rPr lang="en-US" dirty="0"/>
                  <a:t> is the smallest convex set containing S.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set difference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called the convex deficiency of S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Convex Hull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3283" y="1690688"/>
            <a:ext cx="10515600" cy="4351338"/>
          </a:xfrm>
        </p:spPr>
        <p:txBody>
          <a:bodyPr/>
          <a:lstStyle/>
          <a:p>
            <a:r>
              <a:rPr lang="en-US" dirty="0"/>
              <a:t>Convex set</a:t>
            </a:r>
            <a:endParaRPr lang="en-US" dirty="0"/>
          </a:p>
        </p:txBody>
      </p:sp>
      <p:graphicFrame>
        <p:nvGraphicFramePr>
          <p:cNvPr id="4" name="Content Placeholder 3"/>
          <p:cNvGraphicFramePr/>
          <p:nvPr/>
        </p:nvGraphicFramePr>
        <p:xfrm>
          <a:off x="1218027" y="2516188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ontent Placeholder 3"/>
          <p:cNvGraphicFramePr/>
          <p:nvPr/>
        </p:nvGraphicFramePr>
        <p:xfrm>
          <a:off x="6746631" y="2516188"/>
          <a:ext cx="497175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  <a:gridCol w="414313"/>
              </a:tblGrid>
              <a:tr h="326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66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715083" y="6147305"/>
            <a:ext cx="3674015" cy="710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Convex set S</a:t>
            </a:r>
            <a:r>
              <a:rPr lang="en-US" sz="2800" baseline="-25000" dirty="0">
                <a:solidFill>
                  <a:schemeClr val="tx1"/>
                </a:solidFill>
              </a:rPr>
              <a:t>1</a:t>
            </a:r>
            <a:r>
              <a:rPr lang="en-US" sz="2800" dirty="0">
                <a:solidFill>
                  <a:schemeClr val="tx1"/>
                </a:solidFill>
              </a:rPr>
              <a:t>  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41342" y="6147304"/>
            <a:ext cx="3674015" cy="710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Not Convex set S</a:t>
            </a:r>
            <a:r>
              <a:rPr lang="en-US" sz="2800" baseline="-25000" dirty="0">
                <a:solidFill>
                  <a:schemeClr val="tx1"/>
                </a:solidFill>
              </a:rPr>
              <a:t>2</a:t>
            </a:r>
            <a:r>
              <a:rPr lang="en-US" sz="2800" dirty="0">
                <a:solidFill>
                  <a:schemeClr val="tx1"/>
                </a:solidFill>
              </a:rPr>
              <a:t>  </a:t>
            </a:r>
            <a:endParaRPr lang="en-US" sz="2800" b="1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552090" y="3427224"/>
            <a:ext cx="865165" cy="821219"/>
          </a:xfrm>
          <a:prstGeom prst="line">
            <a:avLst/>
          </a:prstGeom>
          <a:ln w="476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8154571" y="3409157"/>
            <a:ext cx="923778" cy="839286"/>
          </a:xfrm>
          <a:prstGeom prst="line">
            <a:avLst/>
          </a:prstGeom>
          <a:ln w="476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2250831" y="3427224"/>
            <a:ext cx="436098" cy="401576"/>
          </a:xfrm>
          <a:prstGeom prst="line">
            <a:avLst/>
          </a:prstGeom>
          <a:ln w="476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53406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Perform four structure element B</a:t>
                </a:r>
                <a:r>
                  <a:rPr lang="en-US" baseline="30000" dirty="0"/>
                  <a:t>i</a:t>
                </a:r>
                <a:endParaRPr lang="en-US" baseline="30000" dirty="0"/>
              </a:p>
              <a:p>
                <a:pPr>
                  <a:lnSpc>
                    <a:spcPct val="150000"/>
                  </a:lnSpc>
                </a:pPr>
                <a:r>
                  <a:rPr lang="en-US" dirty="0" err="1"/>
                  <a:t>X</a:t>
                </a:r>
                <a:r>
                  <a:rPr lang="en-US" baseline="-25000" dirty="0" err="1"/>
                  <a:t>k</a:t>
                </a:r>
                <a:r>
                  <a:rPr lang="en-US" baseline="30000" dirty="0" err="1"/>
                  <a:t>i</a:t>
                </a:r>
                <a:r>
                  <a:rPr lang="en-US" dirty="0"/>
                  <a:t> = (X</a:t>
                </a:r>
                <a:r>
                  <a:rPr lang="en-US" baseline="-25000" dirty="0"/>
                  <a:t>k-1</a:t>
                </a:r>
                <a:r>
                  <a:rPr lang="en-US" baseline="30000" dirty="0"/>
                  <a:t>i</a:t>
                </a:r>
                <a:r>
                  <a:rPr lang="en-US" dirty="0"/>
                  <a:t>     B</a:t>
                </a:r>
                <a:r>
                  <a:rPr lang="en-US" baseline="30000" dirty="0"/>
                  <a:t>i</a:t>
                </a:r>
                <a:r>
                  <a:rPr lang="en-US" dirty="0"/>
                  <a:t> )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dirty="0"/>
                  <a:t> A     where </a:t>
                </a:r>
                <a:r>
                  <a:rPr lang="en-US" dirty="0" err="1"/>
                  <a:t>i</a:t>
                </a:r>
                <a:r>
                  <a:rPr lang="en-US" dirty="0"/>
                  <a:t>=1,2,3,4 and k = 1,2,3,4,…</a:t>
                </a:r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X</a:t>
                </a:r>
                <a:r>
                  <a:rPr lang="en-US" baseline="-25000" dirty="0"/>
                  <a:t>0</a:t>
                </a:r>
                <a:r>
                  <a:rPr lang="en-US" baseline="30000" dirty="0"/>
                  <a:t>i</a:t>
                </a:r>
                <a:r>
                  <a:rPr lang="en-US" dirty="0"/>
                  <a:t> = A</a:t>
                </a:r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Point of convergence </a:t>
                </a:r>
                <a:r>
                  <a:rPr lang="en-US" dirty="0" err="1"/>
                  <a:t>X</a:t>
                </a:r>
                <a:r>
                  <a:rPr lang="en-US" baseline="-25000" dirty="0" err="1"/>
                  <a:t>k</a:t>
                </a:r>
                <a:r>
                  <a:rPr lang="en-US" baseline="30000" dirty="0" err="1"/>
                  <a:t>i</a:t>
                </a:r>
                <a:r>
                  <a:rPr lang="en-US" dirty="0"/>
                  <a:t> = X</a:t>
                </a:r>
                <a:r>
                  <a:rPr lang="en-US" baseline="-25000" dirty="0"/>
                  <a:t>k-1</a:t>
                </a:r>
                <a:r>
                  <a:rPr lang="en-US" baseline="30000" dirty="0"/>
                  <a:t>i</a:t>
                </a:r>
                <a:endParaRPr lang="en-US" baseline="30000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baseline="3000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𝑋𝑖𝑘</m:t>
                    </m:r>
                  </m:oMath>
                </a14:m>
                <a:endParaRPr lang="en-US" baseline="-25000" dirty="0"/>
              </a:p>
              <a:p>
                <a:r>
                  <a:rPr lang="en-US" dirty="0"/>
                  <a:t>The convex hull of A is C(A) =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200" i="1" baseline="3000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3200" baseline="-25000" dirty="0"/>
              </a:p>
              <a:p>
                <a:pPr marL="0" indent="0">
                  <a:buNone/>
                </a:pPr>
                <a:endParaRPr lang="en-US" baseline="-25000" dirty="0"/>
              </a:p>
              <a:p>
                <a:pPr marL="0" indent="0">
                  <a:buNone/>
                </a:pPr>
                <a:endParaRPr lang="en-US" baseline="-250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53406"/>
              </a:xfrm>
              <a:blipFill rotWithShape="1">
                <a:blip r:embed="rId1"/>
                <a:stretch>
                  <a:fillRect t="-908" b="-9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338" y="2920059"/>
            <a:ext cx="311760" cy="2439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2836" y="5057238"/>
            <a:ext cx="685043" cy="106459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Hull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846234" y="4262730"/>
          <a:ext cx="117348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160"/>
                <a:gridCol w="391160"/>
                <a:gridCol w="391160"/>
              </a:tblGrid>
              <a:tr h="28838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1523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1523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ontent Placeholder 3"/>
          <p:cNvGraphicFramePr/>
          <p:nvPr/>
        </p:nvGraphicFramePr>
        <p:xfrm>
          <a:off x="8784102" y="1662552"/>
          <a:ext cx="117348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160"/>
                <a:gridCol w="391160"/>
                <a:gridCol w="391160"/>
              </a:tblGrid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Content Placeholder 3"/>
          <p:cNvGraphicFramePr/>
          <p:nvPr/>
        </p:nvGraphicFramePr>
        <p:xfrm>
          <a:off x="10469881" y="4268714"/>
          <a:ext cx="117348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160"/>
                <a:gridCol w="391160"/>
                <a:gridCol w="391160"/>
              </a:tblGrid>
              <a:tr h="31523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1523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ontent Placeholder 3"/>
          <p:cNvGraphicFramePr/>
          <p:nvPr/>
        </p:nvGraphicFramePr>
        <p:xfrm>
          <a:off x="10467536" y="1679185"/>
          <a:ext cx="117348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160"/>
                <a:gridCol w="391160"/>
                <a:gridCol w="391160"/>
              </a:tblGrid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1523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1523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989255" y="77628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</a:t>
            </a:r>
            <a:r>
              <a:rPr lang="en-US" sz="2800" b="1" baseline="30000" dirty="0">
                <a:solidFill>
                  <a:schemeClr val="tx1"/>
                </a:solidFill>
              </a:rPr>
              <a:t>1</a:t>
            </a:r>
            <a:endParaRPr lang="en-US" sz="2800" b="1" baseline="300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537873" y="77628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</a:t>
            </a:r>
            <a:r>
              <a:rPr lang="en-US" sz="2800" b="1" baseline="30000" dirty="0">
                <a:solidFill>
                  <a:schemeClr val="tx1"/>
                </a:solidFill>
              </a:rPr>
              <a:t>2</a:t>
            </a:r>
            <a:endParaRPr lang="en-US" sz="2800" b="1" baseline="300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846234" y="3404602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</a:t>
            </a:r>
            <a:r>
              <a:rPr lang="en-US" sz="2800" b="1" baseline="30000" dirty="0">
                <a:solidFill>
                  <a:schemeClr val="tx1"/>
                </a:solidFill>
              </a:rPr>
              <a:t>3</a:t>
            </a:r>
            <a:endParaRPr lang="en-US" sz="2800" b="1" baseline="300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537873" y="3404602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</a:t>
            </a:r>
            <a:r>
              <a:rPr lang="en-US" sz="2800" b="1" baseline="30000" dirty="0">
                <a:solidFill>
                  <a:schemeClr val="tx1"/>
                </a:solidFill>
              </a:rPr>
              <a:t>4</a:t>
            </a:r>
            <a:endParaRPr lang="en-US" sz="28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47265" y="1909129"/>
          <a:ext cx="4762692" cy="3689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</a:tblGrid>
              <a:tr h="3689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459501" y="5514756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baseline="30000" dirty="0">
                <a:solidFill>
                  <a:schemeClr val="tx1"/>
                </a:solidFill>
              </a:rPr>
              <a:t>Set A</a:t>
            </a:r>
            <a:endParaRPr lang="en-US" sz="2800" b="1" baseline="30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Hull</a:t>
            </a:r>
            <a:endParaRPr lang="en-US" dirty="0"/>
          </a:p>
        </p:txBody>
      </p:sp>
      <p:graphicFrame>
        <p:nvGraphicFramePr>
          <p:cNvPr id="5" name="Content Placeholder 3"/>
          <p:cNvGraphicFramePr/>
          <p:nvPr/>
        </p:nvGraphicFramePr>
        <p:xfrm>
          <a:off x="8784102" y="1662552"/>
          <a:ext cx="117348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160"/>
                <a:gridCol w="391160"/>
                <a:gridCol w="391160"/>
              </a:tblGrid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989255" y="77628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</a:t>
            </a:r>
            <a:r>
              <a:rPr lang="en-US" sz="2800" b="1" baseline="30000" dirty="0">
                <a:solidFill>
                  <a:schemeClr val="tx1"/>
                </a:solidFill>
              </a:rPr>
              <a:t>1</a:t>
            </a:r>
            <a:endParaRPr lang="en-US" sz="28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47265" y="1909129"/>
          <a:ext cx="4762692" cy="3689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</a:tblGrid>
              <a:tr h="3689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Content Placeholder 2"/>
          <p:cNvSpPr txBox="1"/>
          <p:nvPr/>
        </p:nvSpPr>
        <p:spPr>
          <a:xfrm>
            <a:off x="8191499" y="3317021"/>
            <a:ext cx="2509911" cy="2197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Iteration 1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baseline="30000" dirty="0"/>
              <a:t>1</a:t>
            </a:r>
            <a:endParaRPr lang="en-US" baseline="30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Hull</a:t>
            </a:r>
            <a:endParaRPr lang="en-US" dirty="0"/>
          </a:p>
        </p:txBody>
      </p:sp>
      <p:graphicFrame>
        <p:nvGraphicFramePr>
          <p:cNvPr id="5" name="Content Placeholder 3"/>
          <p:cNvGraphicFramePr/>
          <p:nvPr/>
        </p:nvGraphicFramePr>
        <p:xfrm>
          <a:off x="8784102" y="1662552"/>
          <a:ext cx="117348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160"/>
                <a:gridCol w="391160"/>
                <a:gridCol w="391160"/>
              </a:tblGrid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989255" y="77628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</a:t>
            </a:r>
            <a:r>
              <a:rPr lang="en-US" sz="2800" b="1" baseline="30000" dirty="0">
                <a:solidFill>
                  <a:schemeClr val="tx1"/>
                </a:solidFill>
              </a:rPr>
              <a:t>1</a:t>
            </a:r>
            <a:endParaRPr lang="en-US" sz="28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47265" y="1909129"/>
          <a:ext cx="4762692" cy="3689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</a:tblGrid>
              <a:tr h="3689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Content Placeholder 2"/>
          <p:cNvSpPr txBox="1"/>
          <p:nvPr/>
        </p:nvSpPr>
        <p:spPr>
          <a:xfrm>
            <a:off x="8191499" y="3317021"/>
            <a:ext cx="2509911" cy="2197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Iteration 1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baseline="30000" dirty="0"/>
              <a:t>1</a:t>
            </a:r>
            <a:endParaRPr lang="en-US" baseline="30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Hull</a:t>
            </a:r>
            <a:endParaRPr lang="en-US" dirty="0"/>
          </a:p>
        </p:txBody>
      </p:sp>
      <p:graphicFrame>
        <p:nvGraphicFramePr>
          <p:cNvPr id="5" name="Content Placeholder 3"/>
          <p:cNvGraphicFramePr/>
          <p:nvPr/>
        </p:nvGraphicFramePr>
        <p:xfrm>
          <a:off x="8784102" y="1662552"/>
          <a:ext cx="117348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160"/>
                <a:gridCol w="391160"/>
                <a:gridCol w="391160"/>
              </a:tblGrid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989255" y="77628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</a:t>
            </a:r>
            <a:r>
              <a:rPr lang="en-US" sz="2800" b="1" baseline="30000" dirty="0">
                <a:solidFill>
                  <a:schemeClr val="tx1"/>
                </a:solidFill>
              </a:rPr>
              <a:t>1</a:t>
            </a:r>
            <a:endParaRPr lang="en-US" sz="28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47265" y="1909129"/>
          <a:ext cx="4762692" cy="3689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</a:tblGrid>
              <a:tr h="3689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Content Placeholder 2"/>
          <p:cNvSpPr txBox="1"/>
          <p:nvPr/>
        </p:nvSpPr>
        <p:spPr>
          <a:xfrm>
            <a:off x="8191499" y="3317021"/>
            <a:ext cx="2509911" cy="2197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Iteration 2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baseline="30000" dirty="0"/>
              <a:t>1</a:t>
            </a:r>
            <a:endParaRPr lang="en-US" baseline="30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Hull</a:t>
            </a:r>
            <a:endParaRPr lang="en-US" dirty="0"/>
          </a:p>
        </p:txBody>
      </p:sp>
      <p:graphicFrame>
        <p:nvGraphicFramePr>
          <p:cNvPr id="5" name="Content Placeholder 3"/>
          <p:cNvGraphicFramePr/>
          <p:nvPr/>
        </p:nvGraphicFramePr>
        <p:xfrm>
          <a:off x="8784102" y="1662552"/>
          <a:ext cx="117348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160"/>
                <a:gridCol w="391160"/>
                <a:gridCol w="391160"/>
              </a:tblGrid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989255" y="77628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</a:t>
            </a:r>
            <a:r>
              <a:rPr lang="en-US" sz="2800" b="1" baseline="30000" dirty="0">
                <a:solidFill>
                  <a:schemeClr val="tx1"/>
                </a:solidFill>
              </a:rPr>
              <a:t>1</a:t>
            </a:r>
            <a:endParaRPr lang="en-US" sz="28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47265" y="1909129"/>
          <a:ext cx="4762692" cy="3689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</a:tblGrid>
              <a:tr h="3689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Content Placeholder 2"/>
          <p:cNvSpPr txBox="1"/>
          <p:nvPr/>
        </p:nvSpPr>
        <p:spPr>
          <a:xfrm>
            <a:off x="8191499" y="3317021"/>
            <a:ext cx="2509911" cy="2197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Iteration 3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X</a:t>
            </a:r>
            <a:r>
              <a:rPr lang="en-US" baseline="-25000" dirty="0"/>
              <a:t>3</a:t>
            </a:r>
            <a:r>
              <a:rPr lang="en-US" baseline="30000" dirty="0"/>
              <a:t>1</a:t>
            </a:r>
            <a:endParaRPr lang="en-US" baseline="30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Hull</a:t>
            </a:r>
            <a:endParaRPr lang="en-US" dirty="0"/>
          </a:p>
        </p:txBody>
      </p:sp>
      <p:graphicFrame>
        <p:nvGraphicFramePr>
          <p:cNvPr id="5" name="Content Placeholder 3"/>
          <p:cNvGraphicFramePr/>
          <p:nvPr/>
        </p:nvGraphicFramePr>
        <p:xfrm>
          <a:off x="8784102" y="1662552"/>
          <a:ext cx="117348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160"/>
                <a:gridCol w="391160"/>
                <a:gridCol w="391160"/>
              </a:tblGrid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989255" y="77628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</a:t>
            </a:r>
            <a:r>
              <a:rPr lang="en-US" sz="2800" b="1" baseline="30000" dirty="0">
                <a:solidFill>
                  <a:schemeClr val="tx1"/>
                </a:solidFill>
              </a:rPr>
              <a:t>1</a:t>
            </a:r>
            <a:endParaRPr lang="en-US" sz="28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47265" y="1909129"/>
          <a:ext cx="4762692" cy="3689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</a:tblGrid>
              <a:tr h="3689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Content Placeholder 2"/>
          <p:cNvSpPr txBox="1"/>
          <p:nvPr/>
        </p:nvSpPr>
        <p:spPr>
          <a:xfrm>
            <a:off x="8191499" y="3317021"/>
            <a:ext cx="2509911" cy="2197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Iteration 4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X</a:t>
            </a:r>
            <a:r>
              <a:rPr lang="en-US" baseline="-25000" dirty="0"/>
              <a:t>4</a:t>
            </a:r>
            <a:r>
              <a:rPr lang="en-US" baseline="30000" dirty="0"/>
              <a:t>1</a:t>
            </a:r>
            <a:endParaRPr lang="en-US" baseline="30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Hull</a:t>
            </a:r>
            <a:endParaRPr lang="en-US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47265" y="1909129"/>
          <a:ext cx="4762692" cy="3689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</a:tblGrid>
              <a:tr h="3689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Content Placeholder 2"/>
          <p:cNvSpPr txBox="1"/>
          <p:nvPr/>
        </p:nvSpPr>
        <p:spPr>
          <a:xfrm>
            <a:off x="8191499" y="3317021"/>
            <a:ext cx="3034519" cy="2197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Iteration 5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X</a:t>
            </a:r>
            <a:r>
              <a:rPr lang="en-US" baseline="-25000" dirty="0"/>
              <a:t>5</a:t>
            </a:r>
            <a:r>
              <a:rPr lang="en-US" baseline="30000" dirty="0"/>
              <a:t>1 </a:t>
            </a:r>
            <a:r>
              <a:rPr lang="en-US" dirty="0"/>
              <a:t>=X</a:t>
            </a:r>
            <a:r>
              <a:rPr lang="en-US" baseline="-25000" dirty="0"/>
              <a:t>4</a:t>
            </a:r>
            <a:r>
              <a:rPr lang="en-US" baseline="30000" dirty="0"/>
              <a:t>1</a:t>
            </a:r>
            <a:endParaRPr lang="en-US" baseline="30000" dirty="0"/>
          </a:p>
          <a:p>
            <a:pPr marL="0" indent="0">
              <a:buFont typeface="Arial" panose="020B0604020202020204" pitchFamily="34" charset="0"/>
              <a:buNone/>
            </a:pPr>
            <a:endParaRPr lang="en-US" baseline="30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Process terminate</a:t>
            </a:r>
            <a:endParaRPr lang="en-US" dirty="0"/>
          </a:p>
        </p:txBody>
      </p:sp>
      <p:graphicFrame>
        <p:nvGraphicFramePr>
          <p:cNvPr id="7" name="Content Placeholder 3"/>
          <p:cNvGraphicFramePr/>
          <p:nvPr/>
        </p:nvGraphicFramePr>
        <p:xfrm>
          <a:off x="8784102" y="1662552"/>
          <a:ext cx="117348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160"/>
                <a:gridCol w="391160"/>
                <a:gridCol w="391160"/>
              </a:tblGrid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989255" y="77628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</a:t>
            </a:r>
            <a:r>
              <a:rPr lang="en-US" sz="2800" b="1" baseline="30000" dirty="0">
                <a:solidFill>
                  <a:schemeClr val="tx1"/>
                </a:solidFill>
              </a:rPr>
              <a:t>1</a:t>
            </a:r>
            <a:endParaRPr lang="en-US" sz="2800" b="1" baseline="30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Hull</a:t>
            </a:r>
            <a:endParaRPr lang="en-US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47265" y="1909129"/>
          <a:ext cx="4762692" cy="3689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</a:tblGrid>
              <a:tr h="3689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Content Placeholder 2"/>
          <p:cNvSpPr txBox="1"/>
          <p:nvPr/>
        </p:nvSpPr>
        <p:spPr>
          <a:xfrm>
            <a:off x="8191499" y="3317021"/>
            <a:ext cx="3034519" cy="2197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Iteration 1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baseline="30000" dirty="0"/>
              <a:t>2</a:t>
            </a:r>
            <a:endParaRPr lang="en-US" baseline="30000" dirty="0"/>
          </a:p>
          <a:p>
            <a:pPr marL="0" indent="0">
              <a:buFont typeface="Arial" panose="020B0604020202020204" pitchFamily="34" charset="0"/>
              <a:buNone/>
            </a:pPr>
            <a:endParaRPr lang="en-US" baseline="30000" dirty="0"/>
          </a:p>
        </p:txBody>
      </p:sp>
      <p:graphicFrame>
        <p:nvGraphicFramePr>
          <p:cNvPr id="7" name="Content Placeholder 3"/>
          <p:cNvGraphicFramePr/>
          <p:nvPr/>
        </p:nvGraphicFramePr>
        <p:xfrm>
          <a:off x="8596533" y="1679185"/>
          <a:ext cx="117348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160"/>
                <a:gridCol w="391160"/>
                <a:gridCol w="391160"/>
              </a:tblGrid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1523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1523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666870" y="77628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</a:t>
            </a:r>
            <a:r>
              <a:rPr lang="en-US" sz="2800" b="1" baseline="30000" dirty="0">
                <a:solidFill>
                  <a:schemeClr val="tx1"/>
                </a:solidFill>
              </a:rPr>
              <a:t>2</a:t>
            </a:r>
            <a:endParaRPr lang="en-US" sz="2800" b="1" baseline="30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Hull</a:t>
            </a:r>
            <a:endParaRPr lang="en-US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47265" y="1909129"/>
          <a:ext cx="4762692" cy="3689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</a:tblGrid>
              <a:tr h="3689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Content Placeholder 3"/>
          <p:cNvGraphicFramePr/>
          <p:nvPr/>
        </p:nvGraphicFramePr>
        <p:xfrm>
          <a:off x="8596533" y="1679185"/>
          <a:ext cx="117348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160"/>
                <a:gridCol w="391160"/>
                <a:gridCol w="391160"/>
              </a:tblGrid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1523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1523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666870" y="77628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</a:t>
            </a:r>
            <a:r>
              <a:rPr lang="en-US" sz="2800" b="1" baseline="30000" dirty="0">
                <a:solidFill>
                  <a:schemeClr val="tx1"/>
                </a:solidFill>
              </a:rPr>
              <a:t>2</a:t>
            </a:r>
            <a:endParaRPr lang="en-US" sz="2800" b="1" baseline="30000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8191499" y="3317021"/>
            <a:ext cx="3034519" cy="2197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Iteration 2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baseline="30000" dirty="0"/>
              <a:t>2 </a:t>
            </a:r>
            <a:r>
              <a:rPr lang="en-US" dirty="0"/>
              <a:t>=X</a:t>
            </a:r>
            <a:r>
              <a:rPr lang="en-US" baseline="-25000" dirty="0"/>
              <a:t>1</a:t>
            </a:r>
            <a:r>
              <a:rPr lang="en-US" baseline="30000" dirty="0"/>
              <a:t>2</a:t>
            </a:r>
            <a:endParaRPr lang="en-US" baseline="30000" dirty="0"/>
          </a:p>
          <a:p>
            <a:pPr marL="0" indent="0">
              <a:buFont typeface="Arial" panose="020B0604020202020204" pitchFamily="34" charset="0"/>
              <a:buNone/>
            </a:pPr>
            <a:endParaRPr lang="en-US" baseline="30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Process terminate</a:t>
            </a:r>
            <a:endParaRPr 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Hull</a:t>
            </a:r>
            <a:endParaRPr lang="en-US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47265" y="1909129"/>
          <a:ext cx="4762692" cy="3689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</a:tblGrid>
              <a:tr h="3689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Content Placeholder 2"/>
          <p:cNvSpPr txBox="1"/>
          <p:nvPr/>
        </p:nvSpPr>
        <p:spPr>
          <a:xfrm>
            <a:off x="8191499" y="3317021"/>
            <a:ext cx="3034519" cy="2197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Iteration 1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baseline="30000" dirty="0"/>
              <a:t>3</a:t>
            </a:r>
            <a:endParaRPr lang="en-US" baseline="30000" dirty="0"/>
          </a:p>
        </p:txBody>
      </p:sp>
      <p:graphicFrame>
        <p:nvGraphicFramePr>
          <p:cNvPr id="10" name="Content Placeholder 3"/>
          <p:cNvGraphicFramePr>
            <a:graphicFrameLocks noGrp="1"/>
          </p:cNvGraphicFramePr>
          <p:nvPr>
            <p:ph idx="1"/>
          </p:nvPr>
        </p:nvGraphicFramePr>
        <p:xfrm>
          <a:off x="8818098" y="1449192"/>
          <a:ext cx="117348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160"/>
                <a:gridCol w="391160"/>
                <a:gridCol w="391160"/>
              </a:tblGrid>
              <a:tr h="28838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1523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1523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818098" y="591064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</a:t>
            </a:r>
            <a:r>
              <a:rPr lang="en-US" sz="2800" b="1" baseline="30000" dirty="0">
                <a:solidFill>
                  <a:schemeClr val="tx1"/>
                </a:solidFill>
              </a:rPr>
              <a:t>3</a:t>
            </a:r>
            <a:endParaRPr lang="en-US" sz="2800" b="1" baseline="30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Hull</a:t>
            </a:r>
            <a:endParaRPr lang="en-US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47265" y="1909129"/>
          <a:ext cx="4762692" cy="3689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</a:tblGrid>
              <a:tr h="3689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Content Placeholder 2"/>
          <p:cNvSpPr txBox="1"/>
          <p:nvPr/>
        </p:nvSpPr>
        <p:spPr>
          <a:xfrm>
            <a:off x="8191499" y="3317021"/>
            <a:ext cx="3034519" cy="2197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Iteration 2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baseline="30000" dirty="0"/>
              <a:t>3</a:t>
            </a:r>
            <a:endParaRPr lang="en-US" baseline="30000" dirty="0"/>
          </a:p>
        </p:txBody>
      </p:sp>
      <p:graphicFrame>
        <p:nvGraphicFramePr>
          <p:cNvPr id="10" name="Content Placeholder 3"/>
          <p:cNvGraphicFramePr>
            <a:graphicFrameLocks noGrp="1"/>
          </p:cNvGraphicFramePr>
          <p:nvPr>
            <p:ph idx="1"/>
          </p:nvPr>
        </p:nvGraphicFramePr>
        <p:xfrm>
          <a:off x="8818098" y="1449192"/>
          <a:ext cx="117348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160"/>
                <a:gridCol w="391160"/>
                <a:gridCol w="391160"/>
              </a:tblGrid>
              <a:tr h="28838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1523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1523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818098" y="591064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</a:t>
            </a:r>
            <a:r>
              <a:rPr lang="en-US" sz="2800" b="1" baseline="30000" dirty="0">
                <a:solidFill>
                  <a:schemeClr val="tx1"/>
                </a:solidFill>
              </a:rPr>
              <a:t>3</a:t>
            </a:r>
            <a:endParaRPr lang="en-US" sz="2800" b="1" baseline="30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Hull</a:t>
            </a:r>
            <a:endParaRPr lang="en-US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47265" y="1909129"/>
          <a:ext cx="4762692" cy="3689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</a:tblGrid>
              <a:tr h="3689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Content Placeholder 2"/>
          <p:cNvSpPr txBox="1"/>
          <p:nvPr/>
        </p:nvSpPr>
        <p:spPr>
          <a:xfrm>
            <a:off x="8191499" y="3317021"/>
            <a:ext cx="3034519" cy="2197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Iteration 3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X</a:t>
            </a:r>
            <a:r>
              <a:rPr lang="en-US" baseline="-25000" dirty="0"/>
              <a:t>3</a:t>
            </a:r>
            <a:r>
              <a:rPr lang="en-US" baseline="30000" dirty="0"/>
              <a:t>3</a:t>
            </a:r>
            <a:endParaRPr lang="en-US" baseline="30000" dirty="0"/>
          </a:p>
        </p:txBody>
      </p:sp>
      <p:graphicFrame>
        <p:nvGraphicFramePr>
          <p:cNvPr id="10" name="Content Placeholder 3"/>
          <p:cNvGraphicFramePr>
            <a:graphicFrameLocks noGrp="1"/>
          </p:cNvGraphicFramePr>
          <p:nvPr>
            <p:ph idx="1"/>
          </p:nvPr>
        </p:nvGraphicFramePr>
        <p:xfrm>
          <a:off x="8818098" y="1449192"/>
          <a:ext cx="117348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160"/>
                <a:gridCol w="391160"/>
                <a:gridCol w="391160"/>
              </a:tblGrid>
              <a:tr h="28838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1523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1523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818098" y="591064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</a:t>
            </a:r>
            <a:r>
              <a:rPr lang="en-US" sz="2800" b="1" baseline="30000" dirty="0">
                <a:solidFill>
                  <a:schemeClr val="tx1"/>
                </a:solidFill>
              </a:rPr>
              <a:t>3</a:t>
            </a:r>
            <a:endParaRPr lang="en-US" sz="2800" b="1" baseline="30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Hull</a:t>
            </a:r>
            <a:endParaRPr lang="en-US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47265" y="1909129"/>
          <a:ext cx="4762692" cy="3689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</a:tblGrid>
              <a:tr h="3689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Content Placeholder 2"/>
          <p:cNvSpPr txBox="1"/>
          <p:nvPr/>
        </p:nvSpPr>
        <p:spPr>
          <a:xfrm>
            <a:off x="8191499" y="3317021"/>
            <a:ext cx="3034519" cy="2197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Iteration 4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X</a:t>
            </a:r>
            <a:r>
              <a:rPr lang="en-US" baseline="-25000" dirty="0"/>
              <a:t>4</a:t>
            </a:r>
            <a:r>
              <a:rPr lang="en-US" baseline="30000" dirty="0"/>
              <a:t>3</a:t>
            </a:r>
            <a:endParaRPr lang="en-US" baseline="30000" dirty="0"/>
          </a:p>
        </p:txBody>
      </p:sp>
      <p:graphicFrame>
        <p:nvGraphicFramePr>
          <p:cNvPr id="10" name="Content Placeholder 3"/>
          <p:cNvGraphicFramePr>
            <a:graphicFrameLocks noGrp="1"/>
          </p:cNvGraphicFramePr>
          <p:nvPr>
            <p:ph idx="1"/>
          </p:nvPr>
        </p:nvGraphicFramePr>
        <p:xfrm>
          <a:off x="8818098" y="1449192"/>
          <a:ext cx="117348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160"/>
                <a:gridCol w="391160"/>
                <a:gridCol w="391160"/>
              </a:tblGrid>
              <a:tr h="28838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1523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1523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818098" y="591064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</a:t>
            </a:r>
            <a:r>
              <a:rPr lang="en-US" sz="2800" b="1" baseline="30000" dirty="0">
                <a:solidFill>
                  <a:schemeClr val="tx1"/>
                </a:solidFill>
              </a:rPr>
              <a:t>3</a:t>
            </a:r>
            <a:endParaRPr lang="en-US" sz="2800" b="1" baseline="30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Hull</a:t>
            </a:r>
            <a:endParaRPr lang="en-US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47265" y="1909129"/>
          <a:ext cx="4762692" cy="3689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</a:tblGrid>
              <a:tr h="3689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Content Placeholder 2"/>
          <p:cNvSpPr txBox="1"/>
          <p:nvPr/>
        </p:nvSpPr>
        <p:spPr>
          <a:xfrm>
            <a:off x="8191499" y="3317021"/>
            <a:ext cx="3034519" cy="2197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Iteration 5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X</a:t>
            </a:r>
            <a:r>
              <a:rPr lang="en-US" baseline="-25000" dirty="0"/>
              <a:t>5</a:t>
            </a:r>
            <a:r>
              <a:rPr lang="en-US" baseline="30000" dirty="0"/>
              <a:t>3</a:t>
            </a:r>
            <a:endParaRPr lang="en-US" baseline="30000" dirty="0"/>
          </a:p>
        </p:txBody>
      </p:sp>
      <p:graphicFrame>
        <p:nvGraphicFramePr>
          <p:cNvPr id="10" name="Content Placeholder 3"/>
          <p:cNvGraphicFramePr>
            <a:graphicFrameLocks noGrp="1"/>
          </p:cNvGraphicFramePr>
          <p:nvPr>
            <p:ph idx="1"/>
          </p:nvPr>
        </p:nvGraphicFramePr>
        <p:xfrm>
          <a:off x="8818098" y="1449192"/>
          <a:ext cx="117348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160"/>
                <a:gridCol w="391160"/>
                <a:gridCol w="391160"/>
              </a:tblGrid>
              <a:tr h="28838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1523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1523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818098" y="591064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</a:t>
            </a:r>
            <a:r>
              <a:rPr lang="en-US" sz="2800" b="1" baseline="30000" dirty="0">
                <a:solidFill>
                  <a:schemeClr val="tx1"/>
                </a:solidFill>
              </a:rPr>
              <a:t>3</a:t>
            </a:r>
            <a:endParaRPr lang="en-US" sz="2800" b="1" baseline="30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Hull</a:t>
            </a:r>
            <a:endParaRPr lang="en-US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47265" y="1909129"/>
          <a:ext cx="4762692" cy="3689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</a:tblGrid>
              <a:tr h="3689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Content Placeholder 3"/>
          <p:cNvGraphicFramePr>
            <a:graphicFrameLocks noGrp="1"/>
          </p:cNvGraphicFramePr>
          <p:nvPr>
            <p:ph idx="1"/>
          </p:nvPr>
        </p:nvGraphicFramePr>
        <p:xfrm>
          <a:off x="8818098" y="1449192"/>
          <a:ext cx="117348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160"/>
                <a:gridCol w="391160"/>
                <a:gridCol w="391160"/>
              </a:tblGrid>
              <a:tr h="28838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1523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1523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818098" y="591064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</a:t>
            </a:r>
            <a:r>
              <a:rPr lang="en-US" sz="2800" b="1" baseline="30000" dirty="0">
                <a:solidFill>
                  <a:schemeClr val="tx1"/>
                </a:solidFill>
              </a:rPr>
              <a:t>3</a:t>
            </a:r>
            <a:endParaRPr lang="en-US" sz="2800" b="1" baseline="30000" dirty="0">
              <a:solidFill>
                <a:schemeClr val="tx1"/>
              </a:solidFill>
            </a:endParaRPr>
          </a:p>
        </p:txBody>
      </p:sp>
      <p:sp>
        <p:nvSpPr>
          <p:cNvPr id="7" name="Content Placeholder 2"/>
          <p:cNvSpPr txBox="1"/>
          <p:nvPr/>
        </p:nvSpPr>
        <p:spPr>
          <a:xfrm>
            <a:off x="8191499" y="3317021"/>
            <a:ext cx="3034519" cy="2197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Iteration 6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X</a:t>
            </a:r>
            <a:r>
              <a:rPr lang="en-US" baseline="-25000" dirty="0"/>
              <a:t>6</a:t>
            </a:r>
            <a:r>
              <a:rPr lang="en-US" baseline="30000" dirty="0"/>
              <a:t>3 </a:t>
            </a:r>
            <a:r>
              <a:rPr lang="en-US" dirty="0"/>
              <a:t>=X</a:t>
            </a:r>
            <a:r>
              <a:rPr lang="en-US" baseline="-25000" dirty="0"/>
              <a:t>5</a:t>
            </a:r>
            <a:r>
              <a:rPr lang="en-US" baseline="30000" dirty="0"/>
              <a:t>3</a:t>
            </a:r>
            <a:endParaRPr lang="en-US" baseline="30000" dirty="0"/>
          </a:p>
          <a:p>
            <a:pPr marL="0" indent="0">
              <a:buFont typeface="Arial" panose="020B0604020202020204" pitchFamily="34" charset="0"/>
              <a:buNone/>
            </a:pPr>
            <a:endParaRPr lang="en-US" baseline="30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Process terminate</a:t>
            </a:r>
            <a:endParaRPr 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Hull</a:t>
            </a:r>
            <a:endParaRPr lang="en-US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47265" y="1909129"/>
          <a:ext cx="4762692" cy="3689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</a:tblGrid>
              <a:tr h="3689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Content Placeholder 2"/>
          <p:cNvSpPr txBox="1"/>
          <p:nvPr/>
        </p:nvSpPr>
        <p:spPr>
          <a:xfrm>
            <a:off x="8191499" y="3317022"/>
            <a:ext cx="3034519" cy="1283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Iteration 1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baseline="30000" dirty="0"/>
              <a:t>4</a:t>
            </a:r>
            <a:endParaRPr lang="en-US" baseline="30000" dirty="0"/>
          </a:p>
          <a:p>
            <a:pPr marL="0" indent="0">
              <a:buFont typeface="Arial" panose="020B0604020202020204" pitchFamily="34" charset="0"/>
              <a:buNone/>
            </a:pPr>
            <a:endParaRPr lang="en-US" baseline="30000" dirty="0"/>
          </a:p>
        </p:txBody>
      </p:sp>
      <p:graphicFrame>
        <p:nvGraphicFramePr>
          <p:cNvPr id="8" name="Content Placeholder 3"/>
          <p:cNvGraphicFramePr/>
          <p:nvPr/>
        </p:nvGraphicFramePr>
        <p:xfrm>
          <a:off x="8359728" y="1640400"/>
          <a:ext cx="117348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160"/>
                <a:gridCol w="391160"/>
                <a:gridCol w="391160"/>
              </a:tblGrid>
              <a:tr h="31523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1523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427720" y="77628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</a:t>
            </a:r>
            <a:r>
              <a:rPr lang="en-US" sz="2800" b="1" baseline="30000" dirty="0">
                <a:solidFill>
                  <a:schemeClr val="tx1"/>
                </a:solidFill>
              </a:rPr>
              <a:t>4</a:t>
            </a:r>
            <a:endParaRPr lang="en-US" sz="2800" b="1" baseline="30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Hull</a:t>
            </a:r>
            <a:endParaRPr lang="en-US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47265" y="1909129"/>
          <a:ext cx="4762692" cy="3689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</a:tblGrid>
              <a:tr h="3689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Content Placeholder 3"/>
          <p:cNvGraphicFramePr/>
          <p:nvPr/>
        </p:nvGraphicFramePr>
        <p:xfrm>
          <a:off x="8359728" y="1640400"/>
          <a:ext cx="117348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160"/>
                <a:gridCol w="391160"/>
                <a:gridCol w="391160"/>
              </a:tblGrid>
              <a:tr h="31523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1523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15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427720" y="77628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</a:t>
            </a:r>
            <a:r>
              <a:rPr lang="en-US" sz="2800" b="1" baseline="30000" dirty="0">
                <a:solidFill>
                  <a:schemeClr val="tx1"/>
                </a:solidFill>
              </a:rPr>
              <a:t>4</a:t>
            </a:r>
            <a:endParaRPr lang="en-US" sz="2800" b="1" baseline="30000" dirty="0">
              <a:solidFill>
                <a:schemeClr val="tx1"/>
              </a:solidFill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8191499" y="3317021"/>
            <a:ext cx="3034519" cy="2197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Iteration 2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baseline="30000" dirty="0"/>
              <a:t>4 </a:t>
            </a:r>
            <a:r>
              <a:rPr lang="en-US" dirty="0"/>
              <a:t>=X</a:t>
            </a:r>
            <a:r>
              <a:rPr lang="en-US" baseline="-25000" dirty="0"/>
              <a:t>1</a:t>
            </a:r>
            <a:r>
              <a:rPr lang="en-US" baseline="30000" dirty="0"/>
              <a:t>4</a:t>
            </a:r>
            <a:endParaRPr lang="en-US" baseline="30000" dirty="0"/>
          </a:p>
          <a:p>
            <a:pPr marL="0" indent="0">
              <a:buFont typeface="Arial" panose="020B0604020202020204" pitchFamily="34" charset="0"/>
              <a:buNone/>
            </a:pPr>
            <a:endParaRPr lang="en-US" baseline="30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Process terminate</a:t>
            </a:r>
            <a:endParaRPr 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Hull</a:t>
            </a:r>
            <a:endParaRPr lang="en-US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015548" y="2264899"/>
          <a:ext cx="4762692" cy="3689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</a:tblGrid>
              <a:tr h="36898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Content Placeholder 2"/>
          <p:cNvSpPr txBox="1"/>
          <p:nvPr/>
        </p:nvSpPr>
        <p:spPr>
          <a:xfrm>
            <a:off x="1045111" y="1502289"/>
            <a:ext cx="5580772" cy="762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 the convex hull is</a:t>
            </a:r>
            <a:endParaRPr 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Convex Hull drawbacks</a:t>
            </a:r>
            <a:endParaRPr lang="en-US" b="1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38200" y="2405576"/>
          <a:ext cx="4762692" cy="3689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</a:tblGrid>
              <a:tr h="36898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Content Placeholder 2"/>
          <p:cNvSpPr txBox="1"/>
          <p:nvPr/>
        </p:nvSpPr>
        <p:spPr>
          <a:xfrm>
            <a:off x="1045110" y="1502289"/>
            <a:ext cx="6368563" cy="762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Convex hull is the minimal of convex set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91108" y="2417299"/>
          <a:ext cx="4762692" cy="3689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</a:tblGrid>
              <a:tr h="36898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997" y="258178"/>
            <a:ext cx="10515600" cy="1325563"/>
          </a:xfrm>
        </p:spPr>
        <p:txBody>
          <a:bodyPr/>
          <a:lstStyle/>
          <a:p>
            <a:r>
              <a:rPr lang="en-US" b="1" dirty="0"/>
              <a:t>Convex Hull drawbacks solution</a:t>
            </a:r>
            <a:endParaRPr lang="en-US" b="1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38200" y="2405576"/>
          <a:ext cx="4762692" cy="3689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</a:tblGrid>
              <a:tr h="36898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Content Placeholder 2"/>
          <p:cNvSpPr txBox="1"/>
          <p:nvPr/>
        </p:nvSpPr>
        <p:spPr>
          <a:xfrm>
            <a:off x="1045110" y="1502289"/>
            <a:ext cx="8985155" cy="762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Limit horizontal, vertical and diagonal dimension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91108" y="2417299"/>
          <a:ext cx="4762692" cy="3689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  <a:gridCol w="396891"/>
              </a:tblGrid>
              <a:tr h="36898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6898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Thinning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thinning of set A by a structuring element B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dirty="0" smtClean="0">
                        <a:latin typeface="Cambria Math" panose="02040503050406030204" pitchFamily="18" charset="0"/>
                      </a:rPr>
                      <m:t>⊗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−(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/>
                  <a:t>  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B)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/>
          <p:cNvSpPr/>
          <p:nvPr/>
        </p:nvSpPr>
        <p:spPr>
          <a:xfrm>
            <a:off x="3905572" y="2363492"/>
            <a:ext cx="216977" cy="2247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939" y="2409340"/>
            <a:ext cx="112242" cy="1330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1182" y="2723154"/>
            <a:ext cx="2331042" cy="5783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6651" y="3799231"/>
            <a:ext cx="83845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A sequence of structuring element  </a:t>
            </a: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Every B</a:t>
            </a:r>
            <a:r>
              <a:rPr lang="en-US" sz="2800" baseline="30000" dirty="0"/>
              <a:t>i</a:t>
            </a:r>
            <a:r>
              <a:rPr lang="en-US" sz="2800" dirty="0"/>
              <a:t> is the rotated version of B</a:t>
            </a:r>
            <a:r>
              <a:rPr lang="en-US" sz="2800" baseline="30000" dirty="0"/>
              <a:t>i-1</a:t>
            </a: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Thinning is defined by  </a:t>
            </a:r>
            <a:endParaRPr lang="en-US" sz="2800" dirty="0"/>
          </a:p>
          <a:p>
            <a:endParaRPr lang="en-US" sz="2400" dirty="0"/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620" y="3741787"/>
            <a:ext cx="3290323" cy="58154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8986" y="4700763"/>
            <a:ext cx="5472920" cy="516932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Thinning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09150" y="1558167"/>
          <a:ext cx="1161774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258"/>
                <a:gridCol w="387258"/>
                <a:gridCol w="387258"/>
              </a:tblGrid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60871" y="1571418"/>
          <a:ext cx="1161774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258"/>
                <a:gridCol w="387258"/>
                <a:gridCol w="387258"/>
              </a:tblGrid>
              <a:tr h="3236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05967" y="1551541"/>
          <a:ext cx="1161774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258"/>
                <a:gridCol w="387258"/>
                <a:gridCol w="387258"/>
              </a:tblGrid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11305" y="1531662"/>
          <a:ext cx="1161774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258"/>
                <a:gridCol w="387258"/>
                <a:gridCol w="387258"/>
              </a:tblGrid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716645" y="1525035"/>
          <a:ext cx="1161774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258"/>
                <a:gridCol w="387258"/>
                <a:gridCol w="387258"/>
              </a:tblGrid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3236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68976" y="1505158"/>
          <a:ext cx="1161774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258"/>
                <a:gridCol w="387258"/>
                <a:gridCol w="387258"/>
              </a:tblGrid>
              <a:tr h="3236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3236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3236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261061" y="1498532"/>
          <a:ext cx="1161774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258"/>
                <a:gridCol w="387258"/>
                <a:gridCol w="387258"/>
              </a:tblGrid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3236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3236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579654" y="1478653"/>
          <a:ext cx="1161774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258"/>
                <a:gridCol w="387258"/>
                <a:gridCol w="387258"/>
              </a:tblGrid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3236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1139481" y="2433711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B</a:t>
            </a:r>
            <a:r>
              <a:rPr lang="en-US" b="1" baseline="30000" dirty="0">
                <a:solidFill>
                  <a:schemeClr val="tx1"/>
                </a:solidFill>
              </a:rPr>
              <a:t>1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417296" y="2433711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B</a:t>
            </a:r>
            <a:r>
              <a:rPr lang="en-US" b="1" baseline="30000" dirty="0">
                <a:solidFill>
                  <a:schemeClr val="tx1"/>
                </a:solidFill>
              </a:rPr>
              <a:t>2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838133" y="2433711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B</a:t>
            </a:r>
            <a:r>
              <a:rPr lang="en-US" b="1" baseline="30000" dirty="0">
                <a:solidFill>
                  <a:schemeClr val="tx1"/>
                </a:solidFill>
              </a:rPr>
              <a:t>3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73743" y="2433711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B</a:t>
            </a:r>
            <a:r>
              <a:rPr lang="en-US" b="1" baseline="30000" dirty="0">
                <a:solidFill>
                  <a:schemeClr val="tx1"/>
                </a:solidFill>
              </a:rPr>
              <a:t>4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30101" y="2433711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B</a:t>
            </a:r>
            <a:r>
              <a:rPr lang="en-US" b="1" baseline="30000" dirty="0">
                <a:solidFill>
                  <a:schemeClr val="tx1"/>
                </a:solidFill>
              </a:rPr>
              <a:t>5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730190" y="2433711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B</a:t>
            </a:r>
            <a:r>
              <a:rPr lang="en-US" b="1" baseline="30000" dirty="0">
                <a:solidFill>
                  <a:schemeClr val="tx1"/>
                </a:solidFill>
              </a:rPr>
              <a:t>6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003896" y="2433711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B</a:t>
            </a:r>
            <a:r>
              <a:rPr lang="en-US" b="1" baseline="30000" dirty="0">
                <a:solidFill>
                  <a:schemeClr val="tx1"/>
                </a:solidFill>
              </a:rPr>
              <a:t>7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303985" y="2433711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B</a:t>
            </a:r>
            <a:r>
              <a:rPr lang="en-US" b="1" baseline="30000" dirty="0">
                <a:solidFill>
                  <a:schemeClr val="tx1"/>
                </a:solidFill>
              </a:rPr>
              <a:t>8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302033" y="3856761"/>
          <a:ext cx="4266427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2304755" y="5568462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Set A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Thinning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2883" y="1549660"/>
          <a:ext cx="4266427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68608" y="1867656"/>
          <a:ext cx="1161774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258"/>
                <a:gridCol w="387258"/>
                <a:gridCol w="387258"/>
              </a:tblGrid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72353" y="1462909"/>
          <a:ext cx="4266427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500466" y="2771336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B</a:t>
            </a:r>
            <a:r>
              <a:rPr lang="en-US" b="1" baseline="30000" dirty="0">
                <a:solidFill>
                  <a:schemeClr val="tx1"/>
                </a:solidFill>
              </a:rPr>
              <a:t>1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8436" y="3447611"/>
            <a:ext cx="2154701" cy="56112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58193" y="4427801"/>
          <a:ext cx="4266427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897966" y="4641777"/>
          <a:ext cx="1161774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258"/>
                <a:gridCol w="387258"/>
                <a:gridCol w="387258"/>
              </a:tblGrid>
              <a:tr h="3236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624730" y="5556739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B</a:t>
            </a:r>
            <a:r>
              <a:rPr lang="en-US" b="1" baseline="30000" dirty="0">
                <a:solidFill>
                  <a:schemeClr val="tx1"/>
                </a:solidFill>
              </a:rPr>
              <a:t>2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695800" y="4377788"/>
          <a:ext cx="4266427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117" y="6282001"/>
            <a:ext cx="2504343" cy="575999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Thinning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9412" y="1690688"/>
          <a:ext cx="4266427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14263" y="1690688"/>
          <a:ext cx="1161774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258"/>
                <a:gridCol w="387258"/>
                <a:gridCol w="387258"/>
              </a:tblGrid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146429" y="2572858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B</a:t>
            </a:r>
            <a:r>
              <a:rPr lang="en-US" b="1" baseline="30000" dirty="0">
                <a:solidFill>
                  <a:schemeClr val="tx1"/>
                </a:solidFill>
              </a:rPr>
              <a:t>3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99559" y="1604702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8068" y="3600816"/>
            <a:ext cx="2113377" cy="450071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4722" y="4415896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40967" y="4457742"/>
          <a:ext cx="1161774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258"/>
                <a:gridCol w="387258"/>
                <a:gridCol w="387258"/>
              </a:tblGrid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03405" y="5359791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B</a:t>
            </a:r>
            <a:r>
              <a:rPr lang="en-US" b="1" baseline="30000" dirty="0">
                <a:solidFill>
                  <a:schemeClr val="tx1"/>
                </a:solidFill>
              </a:rPr>
              <a:t>4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08937" y="4258807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8187" y="6289951"/>
            <a:ext cx="2206650" cy="568049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Thinning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0512" y="1571878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05298" y="1567238"/>
          <a:ext cx="1161774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258"/>
                <a:gridCol w="387258"/>
                <a:gridCol w="387258"/>
              </a:tblGrid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36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33202" y="1651050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230836" y="2475914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B</a:t>
            </a:r>
            <a:r>
              <a:rPr lang="en-US" b="1" baseline="30000" dirty="0">
                <a:solidFill>
                  <a:schemeClr val="tx1"/>
                </a:solidFill>
              </a:rPr>
              <a:t>5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0510" y="3612902"/>
            <a:ext cx="2567427" cy="529366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8027" y="4265296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69622" y="4234290"/>
          <a:ext cx="1161774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258"/>
                <a:gridCol w="387258"/>
                <a:gridCol w="387258"/>
              </a:tblGrid>
              <a:tr h="3236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36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36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230836" y="5162843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B</a:t>
            </a:r>
            <a:r>
              <a:rPr lang="en-US" b="1" baseline="30000" dirty="0">
                <a:solidFill>
                  <a:schemeClr val="tx1"/>
                </a:solidFill>
              </a:rPr>
              <a:t>6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442581" y="4221565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5613" y="6233361"/>
            <a:ext cx="2257222" cy="558719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Thinning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7547" y="1534636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65837" y="1540735"/>
          <a:ext cx="1161774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258"/>
                <a:gridCol w="387258"/>
                <a:gridCol w="387258"/>
              </a:tblGrid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36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36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08672" y="2475914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B</a:t>
            </a:r>
            <a:r>
              <a:rPr lang="en-US" b="1" baseline="30000" dirty="0">
                <a:solidFill>
                  <a:schemeClr val="tx1"/>
                </a:solidFill>
              </a:rPr>
              <a:t>7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99560" y="1534636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199694" y="3233225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A</a:t>
            </a:r>
            <a:r>
              <a:rPr lang="en-US" b="1" baseline="-25000" dirty="0">
                <a:solidFill>
                  <a:schemeClr val="tx1"/>
                </a:solidFill>
              </a:rPr>
              <a:t>8</a:t>
            </a:r>
            <a:r>
              <a:rPr lang="en-US" b="1" dirty="0">
                <a:solidFill>
                  <a:schemeClr val="tx1"/>
                </a:solidFill>
              </a:rPr>
              <a:t> = A</a:t>
            </a:r>
            <a:r>
              <a:rPr lang="en-US" b="1" baseline="-25000" dirty="0">
                <a:solidFill>
                  <a:schemeClr val="tx1"/>
                </a:solidFill>
              </a:rPr>
              <a:t>7</a:t>
            </a:r>
            <a:r>
              <a:rPr lang="en-US" b="1" dirty="0">
                <a:solidFill>
                  <a:schemeClr val="tx1"/>
                </a:solidFill>
              </a:rPr>
              <a:t>        B</a:t>
            </a:r>
            <a:r>
              <a:rPr lang="en-US" b="1" baseline="30000" dirty="0">
                <a:solidFill>
                  <a:schemeClr val="tx1"/>
                </a:solidFill>
              </a:rPr>
              <a:t>7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660" y="3566600"/>
            <a:ext cx="276225" cy="24765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2858" y="4147625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284341" y="4147625"/>
          <a:ext cx="1161774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258"/>
                <a:gridCol w="387258"/>
                <a:gridCol w="387258"/>
              </a:tblGrid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36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008672" y="5102683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B</a:t>
            </a:r>
            <a:r>
              <a:rPr lang="en-US" b="1" baseline="30000" dirty="0">
                <a:solidFill>
                  <a:schemeClr val="tx1"/>
                </a:solidFill>
              </a:rPr>
              <a:t>8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78671" y="4161405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8370496" y="5791200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A</a:t>
            </a:r>
            <a:r>
              <a:rPr lang="en-US" b="1" baseline="-25000" dirty="0">
                <a:solidFill>
                  <a:schemeClr val="tx1"/>
                </a:solidFill>
              </a:rPr>
              <a:t>9</a:t>
            </a:r>
            <a:r>
              <a:rPr lang="en-US" b="1" dirty="0">
                <a:solidFill>
                  <a:schemeClr val="tx1"/>
                </a:solidFill>
              </a:rPr>
              <a:t> = A</a:t>
            </a:r>
            <a:r>
              <a:rPr lang="en-US" b="1" baseline="-25000" dirty="0">
                <a:solidFill>
                  <a:schemeClr val="tx1"/>
                </a:solidFill>
              </a:rPr>
              <a:t>8</a:t>
            </a:r>
            <a:r>
              <a:rPr lang="en-US" b="1" dirty="0">
                <a:solidFill>
                  <a:schemeClr val="tx1"/>
                </a:solidFill>
              </a:rPr>
              <a:t>        B</a:t>
            </a:r>
            <a:r>
              <a:rPr lang="en-US" b="1" baseline="30000" dirty="0">
                <a:solidFill>
                  <a:schemeClr val="tx1"/>
                </a:solidFill>
              </a:rPr>
              <a:t>8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6462" y="6124575"/>
            <a:ext cx="27622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Thinning</a:t>
            </a:r>
            <a:endParaRPr lang="en-US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9908" y="1558882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19968" y="1558167"/>
          <a:ext cx="1161774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258"/>
                <a:gridCol w="387258"/>
                <a:gridCol w="387258"/>
              </a:tblGrid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50299" y="2433711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B</a:t>
            </a:r>
            <a:r>
              <a:rPr lang="en-US" b="1" baseline="30000" dirty="0">
                <a:solidFill>
                  <a:schemeClr val="tx1"/>
                </a:solidFill>
              </a:rPr>
              <a:t>1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48191" y="1465555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581512" y="3174609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A</a:t>
            </a:r>
            <a:r>
              <a:rPr lang="en-US" b="1" baseline="-25000" dirty="0">
                <a:solidFill>
                  <a:schemeClr val="tx1"/>
                </a:solidFill>
              </a:rPr>
              <a:t>10</a:t>
            </a:r>
            <a:r>
              <a:rPr lang="en-US" b="1" dirty="0">
                <a:solidFill>
                  <a:schemeClr val="tx1"/>
                </a:solidFill>
              </a:rPr>
              <a:t> = A</a:t>
            </a:r>
            <a:r>
              <a:rPr lang="en-US" b="1" baseline="-25000" dirty="0">
                <a:solidFill>
                  <a:schemeClr val="tx1"/>
                </a:solidFill>
              </a:rPr>
              <a:t>9</a:t>
            </a:r>
            <a:r>
              <a:rPr lang="en-US" b="1" dirty="0">
                <a:solidFill>
                  <a:schemeClr val="tx1"/>
                </a:solidFill>
              </a:rPr>
              <a:t>        B</a:t>
            </a:r>
            <a:r>
              <a:rPr lang="en-US" b="1" baseline="30000" dirty="0">
                <a:solidFill>
                  <a:schemeClr val="tx1"/>
                </a:solidFill>
              </a:rPr>
              <a:t>1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7478" y="3507984"/>
            <a:ext cx="276225" cy="2476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51152" y="4215178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93874" y="4286482"/>
          <a:ext cx="1161774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258"/>
                <a:gridCol w="387258"/>
                <a:gridCol w="387258"/>
              </a:tblGrid>
              <a:tr h="3236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50299" y="5148775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B</a:t>
            </a:r>
            <a:r>
              <a:rPr lang="en-US" b="1" baseline="30000" dirty="0">
                <a:solidFill>
                  <a:schemeClr val="tx1"/>
                </a:solidFill>
              </a:rPr>
              <a:t>2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57570" y="4180619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8410355" y="5831059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A</a:t>
            </a:r>
            <a:r>
              <a:rPr lang="en-US" b="1" baseline="-25000" dirty="0">
                <a:solidFill>
                  <a:schemeClr val="tx1"/>
                </a:solidFill>
              </a:rPr>
              <a:t>11</a:t>
            </a:r>
            <a:r>
              <a:rPr lang="en-US" b="1" dirty="0">
                <a:solidFill>
                  <a:schemeClr val="tx1"/>
                </a:solidFill>
              </a:rPr>
              <a:t> = A</a:t>
            </a:r>
            <a:r>
              <a:rPr lang="en-US" b="1" baseline="-25000" dirty="0">
                <a:solidFill>
                  <a:schemeClr val="tx1"/>
                </a:solidFill>
              </a:rPr>
              <a:t>10</a:t>
            </a:r>
            <a:r>
              <a:rPr lang="en-US" b="1" dirty="0">
                <a:solidFill>
                  <a:schemeClr val="tx1"/>
                </a:solidFill>
              </a:rPr>
              <a:t>        B</a:t>
            </a:r>
            <a:r>
              <a:rPr lang="en-US" b="1" baseline="30000" dirty="0">
                <a:solidFill>
                  <a:schemeClr val="tx1"/>
                </a:solidFill>
              </a:rPr>
              <a:t>2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6321" y="6164434"/>
            <a:ext cx="27622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Thinning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1349" y="1521825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57991" y="1509338"/>
          <a:ext cx="1161774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258"/>
                <a:gridCol w="387258"/>
                <a:gridCol w="387258"/>
              </a:tblGrid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90157" y="2391508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B</a:t>
            </a:r>
            <a:r>
              <a:rPr lang="en-US" b="1" baseline="30000" dirty="0">
                <a:solidFill>
                  <a:schemeClr val="tx1"/>
                </a:solidFill>
              </a:rPr>
              <a:t>3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0309" y="1454052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2592" y="4152705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270628" y="4176388"/>
          <a:ext cx="1161774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258"/>
                <a:gridCol w="387258"/>
                <a:gridCol w="387258"/>
              </a:tblGrid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933066" y="5078437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B</a:t>
            </a:r>
            <a:r>
              <a:rPr lang="en-US" b="1" baseline="30000" dirty="0">
                <a:solidFill>
                  <a:schemeClr val="tx1"/>
                </a:solidFill>
              </a:rPr>
              <a:t>4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575620" y="4137159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8410355" y="5831059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A</a:t>
            </a:r>
            <a:r>
              <a:rPr lang="en-US" b="1" baseline="-25000" dirty="0">
                <a:solidFill>
                  <a:schemeClr val="tx1"/>
                </a:solidFill>
              </a:rPr>
              <a:t>13</a:t>
            </a:r>
            <a:r>
              <a:rPr lang="en-US" b="1" dirty="0">
                <a:solidFill>
                  <a:schemeClr val="tx1"/>
                </a:solidFill>
              </a:rPr>
              <a:t> = A</a:t>
            </a:r>
            <a:r>
              <a:rPr lang="en-US" b="1" baseline="-25000" dirty="0">
                <a:solidFill>
                  <a:schemeClr val="tx1"/>
                </a:solidFill>
              </a:rPr>
              <a:t>12</a:t>
            </a:r>
            <a:r>
              <a:rPr lang="en-US" b="1" dirty="0">
                <a:solidFill>
                  <a:schemeClr val="tx1"/>
                </a:solidFill>
              </a:rPr>
              <a:t>        B</a:t>
            </a:r>
            <a:r>
              <a:rPr lang="en-US" b="1" baseline="30000" dirty="0">
                <a:solidFill>
                  <a:schemeClr val="tx1"/>
                </a:solidFill>
              </a:rPr>
              <a:t>4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6321" y="6164434"/>
            <a:ext cx="276225" cy="2476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703432" y="3085514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A</a:t>
            </a:r>
            <a:r>
              <a:rPr lang="en-US" b="1" baseline="-25000" dirty="0">
                <a:solidFill>
                  <a:schemeClr val="tx1"/>
                </a:solidFill>
              </a:rPr>
              <a:t>12</a:t>
            </a:r>
            <a:r>
              <a:rPr lang="en-US" b="1" dirty="0">
                <a:solidFill>
                  <a:schemeClr val="tx1"/>
                </a:solidFill>
              </a:rPr>
              <a:t> = A</a:t>
            </a:r>
            <a:r>
              <a:rPr lang="en-US" b="1" baseline="-25000" dirty="0">
                <a:solidFill>
                  <a:schemeClr val="tx1"/>
                </a:solidFill>
              </a:rPr>
              <a:t>11</a:t>
            </a:r>
            <a:r>
              <a:rPr lang="en-US" b="1" dirty="0">
                <a:solidFill>
                  <a:schemeClr val="tx1"/>
                </a:solidFill>
              </a:rPr>
              <a:t>        B</a:t>
            </a:r>
            <a:r>
              <a:rPr lang="en-US" b="1" baseline="30000" dirty="0">
                <a:solidFill>
                  <a:schemeClr val="tx1"/>
                </a:solidFill>
              </a:rPr>
              <a:t>3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9398" y="3418889"/>
            <a:ext cx="27622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Thinning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368" y="1534635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23943" y="1510968"/>
          <a:ext cx="1161774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258"/>
                <a:gridCol w="387258"/>
                <a:gridCol w="387258"/>
              </a:tblGrid>
              <a:tr h="3236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36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×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236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37399" y="2419644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B</a:t>
            </a:r>
            <a:r>
              <a:rPr lang="en-US" b="1" baseline="30000" dirty="0">
                <a:solidFill>
                  <a:schemeClr val="tx1"/>
                </a:solidFill>
              </a:rPr>
              <a:t>5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32599" y="1451488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508829" y="3186332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A</a:t>
            </a:r>
            <a:r>
              <a:rPr lang="en-US" b="1" baseline="-25000" dirty="0">
                <a:solidFill>
                  <a:schemeClr val="tx1"/>
                </a:solidFill>
              </a:rPr>
              <a:t>14</a:t>
            </a:r>
            <a:r>
              <a:rPr lang="en-US" b="1" dirty="0">
                <a:solidFill>
                  <a:schemeClr val="tx1"/>
                </a:solidFill>
              </a:rPr>
              <a:t> = A</a:t>
            </a:r>
            <a:r>
              <a:rPr lang="en-US" b="1" baseline="-25000" dirty="0">
                <a:solidFill>
                  <a:schemeClr val="tx1"/>
                </a:solidFill>
              </a:rPr>
              <a:t>13</a:t>
            </a:r>
            <a:r>
              <a:rPr lang="en-US" b="1" dirty="0">
                <a:solidFill>
                  <a:schemeClr val="tx1"/>
                </a:solidFill>
              </a:rPr>
              <a:t>        B</a:t>
            </a:r>
            <a:r>
              <a:rPr lang="en-US" b="1" baseline="30000" dirty="0">
                <a:solidFill>
                  <a:schemeClr val="tx1"/>
                </a:solidFill>
              </a:rPr>
              <a:t>5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4795" y="3519707"/>
            <a:ext cx="276225" cy="2476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77120" y="4597792"/>
            <a:ext cx="3447765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</a:t>
            </a:r>
            <a:r>
              <a:rPr lang="en-US" sz="3200" b="1" dirty="0">
                <a:solidFill>
                  <a:schemeClr val="tx1"/>
                </a:solidFill>
              </a:rPr>
              <a:t>No more change</a:t>
            </a:r>
            <a:endParaRPr lang="en-US" sz="32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67393" y="4100732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328129" y="5943600"/>
            <a:ext cx="515230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</a:t>
            </a:r>
            <a:r>
              <a:rPr lang="en-US" sz="3200" b="1" dirty="0">
                <a:solidFill>
                  <a:schemeClr val="tx1"/>
                </a:solidFill>
              </a:rPr>
              <a:t>converted to m-connectivity</a:t>
            </a:r>
            <a:endParaRPr lang="en-US" sz="3200" b="1" baseline="30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Thickening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Dual of Thinning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Operation        A=&gt; A</a:t>
            </a:r>
            <a:r>
              <a:rPr lang="en-US" baseline="30000" dirty="0"/>
              <a:t>c</a:t>
            </a:r>
            <a:endParaRPr lang="en-US" baseline="30000" dirty="0"/>
          </a:p>
          <a:p>
            <a:pPr marL="0" indent="0">
              <a:buNone/>
            </a:pPr>
            <a:r>
              <a:rPr lang="en-US" baseline="30000" dirty="0"/>
              <a:t> </a:t>
            </a:r>
            <a:r>
              <a:rPr lang="en-US" dirty="0"/>
              <a:t>                            Calculate thinning of A</a:t>
            </a:r>
            <a:r>
              <a:rPr lang="en-US" baseline="30000" dirty="0"/>
              <a:t>c</a:t>
            </a:r>
            <a:endParaRPr lang="en-US" baseline="30000" dirty="0"/>
          </a:p>
          <a:p>
            <a:pPr marL="0" indent="0">
              <a:buNone/>
            </a:pPr>
            <a:r>
              <a:rPr lang="en-US" baseline="30000" dirty="0"/>
              <a:t>                                           </a:t>
            </a:r>
            <a:r>
              <a:rPr lang="en-US" dirty="0"/>
              <a:t>Then again calculate the complement of Thinning of A</a:t>
            </a:r>
            <a:r>
              <a:rPr lang="en-US" baseline="30000" dirty="0"/>
              <a:t>c</a:t>
            </a:r>
            <a:endParaRPr lang="en-US" baseline="30000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8155" y="1825625"/>
            <a:ext cx="3569846" cy="56111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292" y="2606917"/>
            <a:ext cx="5921241" cy="702978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Thickening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1349" y="1521825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694045" y="1308465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8200" y="4274403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03423" y="4272058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0476" y="3165232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Set A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93141" y="2996419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A</a:t>
            </a:r>
            <a:r>
              <a:rPr lang="en-US" b="1" baseline="30000" dirty="0">
                <a:solidFill>
                  <a:schemeClr val="tx1"/>
                </a:solidFill>
              </a:rPr>
              <a:t>c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99971" y="5943600"/>
            <a:ext cx="173032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Thinning of A</a:t>
            </a:r>
            <a:r>
              <a:rPr lang="en-US" b="1" baseline="30000" dirty="0">
                <a:solidFill>
                  <a:schemeClr val="tx1"/>
                </a:solidFill>
              </a:rPr>
              <a:t>c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68057" y="5943600"/>
            <a:ext cx="312186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Complement of thinning A</a:t>
            </a:r>
            <a:r>
              <a:rPr lang="en-US" b="1" baseline="30000" dirty="0">
                <a:solidFill>
                  <a:schemeClr val="tx1"/>
                </a:solidFill>
              </a:rPr>
              <a:t>c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Thickening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86911" y="2883877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829322" y="4656049"/>
            <a:ext cx="312186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Thickening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00248" y="2883877"/>
          <a:ext cx="4266427" cy="188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  <a:gridCol w="387857"/>
              </a:tblGrid>
              <a:tr h="399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500248" y="4656049"/>
            <a:ext cx="4340816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final result with no disconnected points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Skeletons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skeleton of A can be expressed in term of erosion and openings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6539" y="2726562"/>
            <a:ext cx="3048000" cy="10953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589" y="3690729"/>
            <a:ext cx="5410200" cy="6000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589" y="4448445"/>
            <a:ext cx="6057900" cy="4953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589" y="5115541"/>
            <a:ext cx="431482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6448" y="1565218"/>
            <a:ext cx="7205690" cy="492765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Skeletons</a:t>
            </a:r>
            <a:endParaRPr lang="en-US" b="1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Skeletons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skeleton we can retrieved original points set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2881312"/>
            <a:ext cx="3867150" cy="10953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726" y="4261240"/>
            <a:ext cx="7848600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1674" y="1465253"/>
          <a:ext cx="17381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628"/>
                <a:gridCol w="347628"/>
                <a:gridCol w="347628"/>
                <a:gridCol w="347628"/>
                <a:gridCol w="347628"/>
              </a:tblGrid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31279" y="1521121"/>
          <a:ext cx="17381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628"/>
                <a:gridCol w="347628"/>
                <a:gridCol w="347628"/>
                <a:gridCol w="347628"/>
                <a:gridCol w="347628"/>
              </a:tblGrid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42960" y="1535189"/>
          <a:ext cx="17381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628"/>
                <a:gridCol w="347628"/>
                <a:gridCol w="347628"/>
                <a:gridCol w="347628"/>
                <a:gridCol w="347628"/>
              </a:tblGrid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26504" y="1521121"/>
          <a:ext cx="17381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628"/>
                <a:gridCol w="347628"/>
                <a:gridCol w="347628"/>
                <a:gridCol w="347628"/>
                <a:gridCol w="347628"/>
              </a:tblGrid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94455" y="1507052"/>
          <a:ext cx="17381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628"/>
                <a:gridCol w="347628"/>
                <a:gridCol w="347628"/>
                <a:gridCol w="347628"/>
                <a:gridCol w="347628"/>
              </a:tblGrid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0219385" y="1492985"/>
          <a:ext cx="17381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628"/>
                <a:gridCol w="347628"/>
                <a:gridCol w="347628"/>
                <a:gridCol w="347628"/>
                <a:gridCol w="347628"/>
              </a:tblGrid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841956" y="5502681"/>
          <a:ext cx="90814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2716"/>
                <a:gridCol w="302260"/>
                <a:gridCol w="303172"/>
              </a:tblGrid>
              <a:tr h="361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618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618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67" y="878168"/>
            <a:ext cx="1035514" cy="4884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143" y="944074"/>
            <a:ext cx="1524833" cy="42254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390" y="944074"/>
            <a:ext cx="973822" cy="48286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719" y="689317"/>
            <a:ext cx="1062131" cy="67730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955" y="847762"/>
            <a:ext cx="1757623" cy="61516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1593" y="647302"/>
            <a:ext cx="1587451" cy="76132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376246" y="5669280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k=0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70044" y="5847644"/>
            <a:ext cx="440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</a:t>
            </a: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2595" y="624866"/>
            <a:ext cx="1924930" cy="768283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1674" y="1465253"/>
          <a:ext cx="17381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628"/>
                <a:gridCol w="347628"/>
                <a:gridCol w="347628"/>
                <a:gridCol w="347628"/>
                <a:gridCol w="347628"/>
              </a:tblGrid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31279" y="1521121"/>
          <a:ext cx="17381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628"/>
                <a:gridCol w="347628"/>
                <a:gridCol w="347628"/>
                <a:gridCol w="347628"/>
                <a:gridCol w="347628"/>
              </a:tblGrid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42960" y="1535189"/>
          <a:ext cx="17381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628"/>
                <a:gridCol w="347628"/>
                <a:gridCol w="347628"/>
                <a:gridCol w="347628"/>
                <a:gridCol w="347628"/>
              </a:tblGrid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26504" y="1521121"/>
          <a:ext cx="17381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628"/>
                <a:gridCol w="347628"/>
                <a:gridCol w="347628"/>
                <a:gridCol w="347628"/>
                <a:gridCol w="347628"/>
              </a:tblGrid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94455" y="1507052"/>
          <a:ext cx="17381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628"/>
                <a:gridCol w="347628"/>
                <a:gridCol w="347628"/>
                <a:gridCol w="347628"/>
                <a:gridCol w="347628"/>
              </a:tblGrid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0219385" y="1492985"/>
          <a:ext cx="17381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628"/>
                <a:gridCol w="347628"/>
                <a:gridCol w="347628"/>
                <a:gridCol w="347628"/>
                <a:gridCol w="347628"/>
              </a:tblGrid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841956" y="5502681"/>
          <a:ext cx="90814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2716"/>
                <a:gridCol w="302716"/>
                <a:gridCol w="302716"/>
              </a:tblGrid>
              <a:tr h="361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618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618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67" y="878168"/>
            <a:ext cx="1035514" cy="4884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143" y="944074"/>
            <a:ext cx="1524833" cy="42254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390" y="944074"/>
            <a:ext cx="973822" cy="48286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719" y="689317"/>
            <a:ext cx="1062131" cy="67730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955" y="847762"/>
            <a:ext cx="1757623" cy="61516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1593" y="647302"/>
            <a:ext cx="1587451" cy="76132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376246" y="5669280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k=1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8379" y="689315"/>
            <a:ext cx="1696974" cy="677301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1674" y="1465253"/>
          <a:ext cx="17381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628"/>
                <a:gridCol w="347628"/>
                <a:gridCol w="347628"/>
                <a:gridCol w="347628"/>
                <a:gridCol w="347628"/>
              </a:tblGrid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31279" y="1521121"/>
          <a:ext cx="17381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628"/>
                <a:gridCol w="347628"/>
                <a:gridCol w="347628"/>
                <a:gridCol w="347628"/>
                <a:gridCol w="347628"/>
              </a:tblGrid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42960" y="1535189"/>
          <a:ext cx="17381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628"/>
                <a:gridCol w="347628"/>
                <a:gridCol w="347628"/>
                <a:gridCol w="347628"/>
                <a:gridCol w="347628"/>
              </a:tblGrid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26504" y="1521121"/>
          <a:ext cx="17381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628"/>
                <a:gridCol w="347628"/>
                <a:gridCol w="347628"/>
                <a:gridCol w="347628"/>
                <a:gridCol w="347628"/>
              </a:tblGrid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94455" y="1507052"/>
          <a:ext cx="17381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628"/>
                <a:gridCol w="347628"/>
                <a:gridCol w="347628"/>
                <a:gridCol w="347628"/>
                <a:gridCol w="347628"/>
              </a:tblGrid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0219385" y="1492985"/>
          <a:ext cx="17381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628"/>
                <a:gridCol w="347628"/>
                <a:gridCol w="347628"/>
                <a:gridCol w="347628"/>
                <a:gridCol w="347628"/>
              </a:tblGrid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58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2558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841956" y="5502681"/>
          <a:ext cx="90814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2716"/>
                <a:gridCol w="302716"/>
                <a:gridCol w="302716"/>
              </a:tblGrid>
              <a:tr h="361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618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618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67" y="878168"/>
            <a:ext cx="1035514" cy="4884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143" y="944074"/>
            <a:ext cx="1524833" cy="42254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390" y="944074"/>
            <a:ext cx="973822" cy="48286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719" y="689317"/>
            <a:ext cx="1062131" cy="67730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955" y="847762"/>
            <a:ext cx="1757623" cy="61516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1593" y="647302"/>
            <a:ext cx="1587451" cy="76132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376246" y="5669280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k=2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4719" y="5233475"/>
            <a:ext cx="906916" cy="5905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55191" y="5233475"/>
            <a:ext cx="766250" cy="79572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62067" y="617241"/>
            <a:ext cx="1905059" cy="760352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Pruning </a:t>
            </a:r>
            <a:endParaRPr lang="en-US" b="1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Removing parasitic component</a:t>
            </a:r>
            <a:endParaRPr lang="en-US" dirty="0"/>
          </a:p>
          <a:p>
            <a:r>
              <a:rPr lang="en-US" dirty="0"/>
              <a:t>Essential Complement to thinning and skeletonizing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3969" y="3003200"/>
            <a:ext cx="2466975" cy="6191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969" y="3622325"/>
            <a:ext cx="2960349" cy="98067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969" y="4602998"/>
            <a:ext cx="3267075" cy="7239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3969" y="5210927"/>
            <a:ext cx="2619375" cy="81915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Structuring Elements</a:t>
            </a:r>
            <a:endParaRPr lang="en-US" b="1" dirty="0"/>
          </a:p>
          <a:p>
            <a:endParaRPr lang="en-US" dirty="0"/>
          </a:p>
        </p:txBody>
      </p:sp>
      <p:sp>
        <p:nvSpPr>
          <p:cNvPr id="5" name="AutoShape 3" descr="{\displaystyle B_{5}={\begin{bmatrix}1&amp;0&amp;0\\0&amp;1&amp;0\\0&amp;0&amp;0\end{bmatrix}}B_{6}={\begin{bmatrix}0&amp;0&amp;1\\0&amp;1&amp;0\\0&amp;0&amp;0\end{bmatrix}}B_{7}={\begin{bmatrix}0&amp;0&amp;0\\0&amp;1&amp;0\\0&amp;0&amp;1\end{bmatrix}}B_{8}={\begin{bmatrix}0&amp;0&amp;0\\0&amp;1&amp;0\\1&amp;0&amp;0\end{bmatrix}}}"/>
          <p:cNvSpPr>
            <a:spLocks noChangeAspect="1" noChangeArrowheads="1"/>
          </p:cNvSpPr>
          <p:nvPr/>
        </p:nvSpPr>
        <p:spPr bwMode="auto">
          <a:xfrm>
            <a:off x="6985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7" name="Graphic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45970" y="2577465"/>
            <a:ext cx="8056630" cy="1016318"/>
          </a:xfrm>
          <a:prstGeom prst="rect">
            <a:avLst/>
          </a:prstGeom>
        </p:spPr>
      </p:pic>
      <p:pic>
        <p:nvPicPr>
          <p:cNvPr id="12" name="Graphic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23120" y="4001294"/>
            <a:ext cx="7945759" cy="10163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45970" y="5711191"/>
            <a:ext cx="36957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‘x’ indicates a “don’t care” condition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/>
              <a:t>Step 1: Thinning</a:t>
            </a:r>
            <a:endParaRPr lang="en-US" b="1" u="sng" dirty="0"/>
          </a:p>
          <a:p>
            <a:r>
              <a:rPr lang="en-US" dirty="0"/>
              <a:t>Apply this step a given (n) times to eliminate any branch with (n) or less pixels.</a:t>
            </a:r>
            <a:endParaRPr lang="en-US" dirty="0"/>
          </a:p>
          <a:p>
            <a:endParaRPr lang="en-US" dirty="0"/>
          </a:p>
        </p:txBody>
      </p:sp>
      <p:pic>
        <p:nvPicPr>
          <p:cNvPr id="7" name="Graphic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05562" y="3352800"/>
            <a:ext cx="2476501" cy="4784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7260" y="4038600"/>
            <a:ext cx="101498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Step 2: Find End Points</a:t>
            </a:r>
            <a:endParaRPr lang="en-US" sz="2800" b="1" u="sng" dirty="0"/>
          </a:p>
          <a:p>
            <a:r>
              <a:rPr lang="en-US" sz="2800" dirty="0"/>
              <a:t>Wherever the structuring elements are satisfied, the center of the 3x3 matrix is considered an endpoint.</a:t>
            </a:r>
            <a:endParaRPr lang="en-US" sz="2800" dirty="0"/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29827" y="5423595"/>
            <a:ext cx="2827973" cy="1039341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u="sng" dirty="0"/>
              <a:t>Step 3: Dilate End Points</a:t>
            </a:r>
            <a:endParaRPr lang="en-US" sz="2400" b="1" u="sng" dirty="0"/>
          </a:p>
          <a:p>
            <a:pPr marL="0" indent="0">
              <a:buNone/>
            </a:pPr>
            <a:r>
              <a:rPr lang="en-US" sz="2400" dirty="0"/>
              <a:t>Perform dilation using a 3x3 matrix (H) consisting of all 1's and only insert 1's where the original image (A) also had a 1. Perform this for each endpoint in all direction (n) times.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u="sng" dirty="0"/>
              <a:t>Step 4: Union of X1 &amp; X3</a:t>
            </a:r>
            <a:endParaRPr lang="en-US" sz="2400" b="1" u="sng" dirty="0"/>
          </a:p>
          <a:p>
            <a:pPr marL="0" indent="0">
              <a:buNone/>
            </a:pPr>
            <a:r>
              <a:rPr lang="en-US" sz="2400" dirty="0"/>
              <a:t>Take the result from step 1 and union it with step 3 to achieve the final results.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Graphic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81337" y="3294698"/>
            <a:ext cx="4050983" cy="569146"/>
          </a:xfrm>
          <a:prstGeom prst="rect">
            <a:avLst/>
          </a:prstGeom>
        </p:spPr>
      </p:pic>
      <p:pic>
        <p:nvPicPr>
          <p:cNvPr id="7" name="Graphic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81337" y="5500499"/>
            <a:ext cx="3086100" cy="52604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Gray scale Image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gray scale images on the contrary to binary images we deal with digital image functions of the form </a:t>
            </a:r>
            <a:endParaRPr lang="en-US" dirty="0"/>
          </a:p>
          <a:p>
            <a:r>
              <a:rPr lang="en-US" dirty="0"/>
              <a:t>f(</a:t>
            </a:r>
            <a:r>
              <a:rPr lang="en-US" dirty="0" err="1"/>
              <a:t>x,y</a:t>
            </a:r>
            <a:r>
              <a:rPr lang="en-US" dirty="0"/>
              <a:t>) as an input image and</a:t>
            </a:r>
            <a:endParaRPr lang="en-US" dirty="0"/>
          </a:p>
          <a:p>
            <a:r>
              <a:rPr lang="en-US" dirty="0"/>
              <a:t>b(</a:t>
            </a:r>
            <a:r>
              <a:rPr lang="en-US" dirty="0" err="1"/>
              <a:t>x,y</a:t>
            </a:r>
            <a:r>
              <a:rPr lang="en-US" dirty="0"/>
              <a:t>) as a structuring element.</a:t>
            </a:r>
            <a:endParaRPr lang="en-US" dirty="0"/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dirty="0" err="1"/>
              <a:t>x,y</a:t>
            </a:r>
            <a:r>
              <a:rPr lang="en-US" dirty="0"/>
              <a:t>) represents a coordinates in the image.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Structuring 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Structuring elements in gray-scale morphology belong to one of two categories: </a:t>
            </a:r>
            <a:r>
              <a:rPr lang="en-US" dirty="0" err="1"/>
              <a:t>nonflat</a:t>
            </a:r>
            <a:r>
              <a:rPr lang="en-US" dirty="0"/>
              <a:t> and flat. 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2514" y="3073400"/>
            <a:ext cx="66103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Top-hat and bottom-hat transformations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57452" cy="480046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Combining image subtraction with openings and closings</a:t>
                </a: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ℎ𝑎𝑡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 				B</a:t>
                </a:r>
                <a14:m>
                  <m:oMath xmlns:m="http://schemas.openxmlformats.org/officeDocument/2006/math">
                    <m:r>
                      <a:rPr lang="en-US" i="1" baseline="-25000">
                        <a:latin typeface="Cambria Math" panose="02040503050406030204" pitchFamily="18" charset="0"/>
                      </a:rPr>
                      <m:t>ℎ𝑎𝑡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i="1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Removing objects from image by using structuring element</a:t>
                </a:r>
                <a:endParaRPr lang="en-US" dirty="0"/>
              </a:p>
              <a:p>
                <a:r>
                  <a:rPr lang="en-US" dirty="0"/>
                  <a:t>Correcting the effect of non-uniform illumination.</a:t>
                </a:r>
                <a:endParaRPr lang="en-US" dirty="0"/>
              </a:p>
              <a:p>
                <a:r>
                  <a:rPr lang="en-US" dirty="0"/>
                  <a:t>Great role in Segmentation 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57452" cy="4800462"/>
              </a:xfrm>
              <a:blipFill rotWithShape="1">
                <a:blip r:embed="rId1"/>
                <a:stretch>
                  <a:fillRect r="5" b="1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Top-hat and bottom-hat transformations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483" y="1403217"/>
            <a:ext cx="6580328" cy="4362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482" y="5765369"/>
            <a:ext cx="6610003" cy="976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Textural segmentation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The objectives is to find a boundary between two regions based on their textural content.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Using closings and openings </a:t>
            </a:r>
            <a:endParaRPr lang="en-US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Textural segmentation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310" y="1602460"/>
            <a:ext cx="4640883" cy="4606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3182" y="1602460"/>
            <a:ext cx="1236798" cy="4669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Digital Image Processing 3rd edition, Rafael C. Gonzalez, Richard E. Woods</a:t>
            </a:r>
            <a:endParaRPr lang="en-US" dirty="0"/>
          </a:p>
          <a:p>
            <a:r>
              <a:rPr lang="en-US" dirty="0">
                <a:hlinkClick r:id="rId1"/>
              </a:rPr>
              <a:t> http://inside.mines.edu/~whoff/courses/EENG510/</a:t>
            </a:r>
            <a:endParaRPr lang="en-US" dirty="0"/>
          </a:p>
          <a:p>
            <a:r>
              <a:rPr lang="en-US" dirty="0">
                <a:hlinkClick r:id="rId2"/>
              </a:rPr>
              <a:t>https://en.wikipedia.org/wiki/Pruning_(morphology)</a:t>
            </a:r>
            <a:endParaRPr lang="en-US" dirty="0"/>
          </a:p>
          <a:p>
            <a:r>
              <a:rPr lang="en-US" dirty="0"/>
              <a:t>Special Thanks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Shamimur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Rahman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8858</Words>
  <Application>WPS Presentation</Application>
  <PresentationFormat>Widescreen</PresentationFormat>
  <Paragraphs>2671</Paragraphs>
  <Slides>103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103</vt:i4>
      </vt:variant>
    </vt:vector>
  </HeadingPairs>
  <TitlesOfParts>
    <vt:vector size="113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Cambria Math</vt:lpstr>
      <vt:lpstr>Times New Roman</vt:lpstr>
      <vt:lpstr>Office Theme</vt:lpstr>
      <vt:lpstr>Morphological Image Processing </vt:lpstr>
      <vt:lpstr>Preview </vt:lpstr>
      <vt:lpstr>Preliminaries</vt:lpstr>
      <vt:lpstr>Structuring Elements</vt:lpstr>
      <vt:lpstr>Erosion</vt:lpstr>
      <vt:lpstr>Erosion</vt:lpstr>
      <vt:lpstr>Erosion  Example</vt:lpstr>
      <vt:lpstr>Dilation</vt:lpstr>
      <vt:lpstr>Dilation Example</vt:lpstr>
      <vt:lpstr>PowerPoint 演示文稿</vt:lpstr>
      <vt:lpstr>PowerPoint 演示文稿</vt:lpstr>
      <vt:lpstr>Duality </vt:lpstr>
      <vt:lpstr>Opening</vt:lpstr>
      <vt:lpstr>Closing </vt:lpstr>
      <vt:lpstr>PowerPoint 演示文稿</vt:lpstr>
      <vt:lpstr>PowerPoint 演示文稿</vt:lpstr>
      <vt:lpstr>Opening and Closing</vt:lpstr>
      <vt:lpstr>The Hit-or-Miss Transform</vt:lpstr>
      <vt:lpstr>Hit-or-Miss Transformation</vt:lpstr>
      <vt:lpstr>Hit-or-Miss Transformation</vt:lpstr>
      <vt:lpstr>Hit-or-Miss Transformation</vt:lpstr>
      <vt:lpstr>Hit-or-Miss Transformation</vt:lpstr>
      <vt:lpstr>Hit-or-Miss Transformation</vt:lpstr>
      <vt:lpstr>Boundary Extraction</vt:lpstr>
      <vt:lpstr>Boundary Extraction</vt:lpstr>
      <vt:lpstr>Boundary Extraction</vt:lpstr>
      <vt:lpstr>Boundary Extraction</vt:lpstr>
      <vt:lpstr>Boundary Extraction</vt:lpstr>
      <vt:lpstr>Hole Filling</vt:lpstr>
      <vt:lpstr>Hole Filling</vt:lpstr>
      <vt:lpstr>Hole Filling</vt:lpstr>
      <vt:lpstr>Hole Filling</vt:lpstr>
      <vt:lpstr>Hole Filling</vt:lpstr>
      <vt:lpstr>Hole Filling</vt:lpstr>
      <vt:lpstr>Hole Filling</vt:lpstr>
      <vt:lpstr>Hole Filling</vt:lpstr>
      <vt:lpstr>Hole Filling</vt:lpstr>
      <vt:lpstr>Hole Filling</vt:lpstr>
      <vt:lpstr>Hole Filling</vt:lpstr>
      <vt:lpstr>Hole Filling</vt:lpstr>
      <vt:lpstr>Hole Filling</vt:lpstr>
      <vt:lpstr>Extraction of Connected Components</vt:lpstr>
      <vt:lpstr>Extraction of Connected Components</vt:lpstr>
      <vt:lpstr>Extraction of Connected Components</vt:lpstr>
      <vt:lpstr>Extraction of Connected Components</vt:lpstr>
      <vt:lpstr>Extraction of Connected Components</vt:lpstr>
      <vt:lpstr>Extraction of Connected Components</vt:lpstr>
      <vt:lpstr>Extraction of Connected Components</vt:lpstr>
      <vt:lpstr>Extraction of Connected Components</vt:lpstr>
      <vt:lpstr>Extraction of Connected Components</vt:lpstr>
      <vt:lpstr>Extraction of Connected Components</vt:lpstr>
      <vt:lpstr>Convex Hull</vt:lpstr>
      <vt:lpstr>Convex Hull</vt:lpstr>
      <vt:lpstr>PowerPoint 演示文稿</vt:lpstr>
      <vt:lpstr>Convex Hull</vt:lpstr>
      <vt:lpstr>Convex Hull</vt:lpstr>
      <vt:lpstr>Convex Hull</vt:lpstr>
      <vt:lpstr>Convex Hull</vt:lpstr>
      <vt:lpstr>Convex Hull</vt:lpstr>
      <vt:lpstr>Convex Hull</vt:lpstr>
      <vt:lpstr>Convex Hull</vt:lpstr>
      <vt:lpstr>Convex Hull</vt:lpstr>
      <vt:lpstr>Convex Hull</vt:lpstr>
      <vt:lpstr>Convex Hull</vt:lpstr>
      <vt:lpstr>Convex Hull</vt:lpstr>
      <vt:lpstr>Convex Hull</vt:lpstr>
      <vt:lpstr>Convex Hull</vt:lpstr>
      <vt:lpstr>Convex Hull</vt:lpstr>
      <vt:lpstr>Convex Hull</vt:lpstr>
      <vt:lpstr>Convex Hull</vt:lpstr>
      <vt:lpstr>Convex Hull</vt:lpstr>
      <vt:lpstr>Convex Hull</vt:lpstr>
      <vt:lpstr>Convex Hull drawbacks</vt:lpstr>
      <vt:lpstr>Convex Hull drawbacks solution</vt:lpstr>
      <vt:lpstr>Thinning</vt:lpstr>
      <vt:lpstr>Thinning</vt:lpstr>
      <vt:lpstr>Thinning</vt:lpstr>
      <vt:lpstr>Thinning</vt:lpstr>
      <vt:lpstr>Thinning</vt:lpstr>
      <vt:lpstr>Thinning</vt:lpstr>
      <vt:lpstr>Thinning</vt:lpstr>
      <vt:lpstr>Thinning</vt:lpstr>
      <vt:lpstr>Thinning</vt:lpstr>
      <vt:lpstr>Thickening</vt:lpstr>
      <vt:lpstr>Thickening</vt:lpstr>
      <vt:lpstr>Thickening</vt:lpstr>
      <vt:lpstr>Skeletons</vt:lpstr>
      <vt:lpstr>Skeletons</vt:lpstr>
      <vt:lpstr>Skeletons</vt:lpstr>
      <vt:lpstr>PowerPoint 演示文稿</vt:lpstr>
      <vt:lpstr>PowerPoint 演示文稿</vt:lpstr>
      <vt:lpstr>PowerPoint 演示文稿</vt:lpstr>
      <vt:lpstr>Pruning </vt:lpstr>
      <vt:lpstr>PowerPoint 演示文稿</vt:lpstr>
      <vt:lpstr>PowerPoint 演示文稿</vt:lpstr>
      <vt:lpstr>PowerPoint 演示文稿</vt:lpstr>
      <vt:lpstr>Gray scale Image</vt:lpstr>
      <vt:lpstr>Structuring elements</vt:lpstr>
      <vt:lpstr>Top-hat and bottom-hat transformations</vt:lpstr>
      <vt:lpstr>Top-hat and bottom-hat transformations</vt:lpstr>
      <vt:lpstr>Textural segmentation</vt:lpstr>
      <vt:lpstr>Textural segmentation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Morphological Image Processing </dc:title>
  <dc:creator>sunanda</dc:creator>
  <cp:lastModifiedBy>rashed</cp:lastModifiedBy>
  <cp:revision>104</cp:revision>
  <dcterms:created xsi:type="dcterms:W3CDTF">2019-04-07T16:05:00Z</dcterms:created>
  <dcterms:modified xsi:type="dcterms:W3CDTF">2022-11-30T07:44:15Z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A00B0A5728854D0C978567ABD8D5A808</vt:lpwstr>
  </property>
  <property fmtid="{D5CDD505-2E9C-101B-9397-08002B2CF9AE}" pid="3" name="KSOProductBuildVer">
    <vt:lpwstr>1033-11.2.0.11417</vt:lpwstr>
  </property>
</Properties>
</file>