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76" r:id="rId3"/>
    <p:sldId id="257" r:id="rId4"/>
    <p:sldId id="258" r:id="rId5"/>
    <p:sldId id="259" r:id="rId6"/>
    <p:sldId id="260" r:id="rId7"/>
    <p:sldId id="270" r:id="rId8"/>
    <p:sldId id="271" r:id="rId9"/>
    <p:sldId id="272" r:id="rId10"/>
    <p:sldId id="273" r:id="rId11"/>
    <p:sldId id="274" r:id="rId12"/>
    <p:sldId id="275" r:id="rId13"/>
  </p:sldIdLst>
  <p:sldSz cx="9144000" cy="5143500" type="screen16x9"/>
  <p:notesSz cx="6858000" cy="9144000"/>
  <p:embeddedFontLst>
    <p:embeddedFont>
      <p:font typeface="PT Sans Narrow" panose="020B0604020202020204" charset="0"/>
      <p:regular r:id="rId15"/>
      <p:bold r:id="rId16"/>
    </p:embeddedFont>
    <p:embeddedFont>
      <p:font typeface="Open Sans" panose="020B060402020202020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4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77A0CD-CD54-444E-90C7-8DC316AFB22E}">
  <a:tblStyle styleId="{ED77A0CD-CD54-444E-90C7-8DC316AFB22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72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b404736c67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b404736c67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b404736c67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b404736c67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b404736c67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b404736c67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41dcd664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41dcd664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41dcd664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41dcd664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9918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41dcd664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41dcd664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3473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41dcd664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41dcd664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5705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41dcd664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41dcd664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7702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41dcd664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41dcd664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6967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41dcd664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41dcd664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1507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lvl="0"/>
            <a:r>
              <a:rPr lang="en-GB" dirty="0" smtClean="0"/>
              <a:t>PATTERN RECOGNITION</a:t>
            </a:r>
            <a:br>
              <a:rPr lang="en-GB" dirty="0" smtClean="0"/>
            </a:br>
            <a:r>
              <a:rPr lang="en-GB" dirty="0" smtClean="0"/>
              <a:t>Introduction </a:t>
            </a:r>
            <a:r>
              <a:rPr lang="en-GB" dirty="0"/>
              <a:t>&amp; Overview</a:t>
            </a:r>
            <a:endParaRPr dirty="0"/>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0"/>
              </a:spcAft>
              <a:buNone/>
            </a:pPr>
            <a:r>
              <a:rPr lang="en-GB"/>
              <a:t>Md. Shamim Hossain</a:t>
            </a:r>
            <a:endParaRPr/>
          </a:p>
          <a:p>
            <a:pPr marL="0" lvl="0" indent="0" algn="ctr" rtl="0">
              <a:spcBef>
                <a:spcPts val="0"/>
              </a:spcBef>
              <a:spcAft>
                <a:spcPts val="0"/>
              </a:spcAft>
              <a:buNone/>
            </a:pPr>
            <a:r>
              <a:rPr lang="en-GB"/>
              <a:t>Lecturer, CSE, SU</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ination is more important than knowled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145" y="388705"/>
            <a:ext cx="8075486" cy="4265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31259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85654"/>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Basic Terminology: </a:t>
            </a:r>
            <a:r>
              <a:rPr lang="en-GB" dirty="0" smtClean="0"/>
              <a:t>ML &amp; PR</a:t>
            </a:r>
            <a:endParaRPr dirty="0"/>
          </a:p>
        </p:txBody>
      </p:sp>
      <p:sp>
        <p:nvSpPr>
          <p:cNvPr id="73" name="Google Shape;73;p14"/>
          <p:cNvSpPr txBox="1">
            <a:spLocks noGrp="1"/>
          </p:cNvSpPr>
          <p:nvPr>
            <p:ph type="body" idx="1"/>
          </p:nvPr>
        </p:nvSpPr>
        <p:spPr>
          <a:xfrm>
            <a:off x="311700" y="606175"/>
            <a:ext cx="8520600" cy="4368875"/>
          </a:xfrm>
          <a:prstGeom prst="rect">
            <a:avLst/>
          </a:prstGeom>
        </p:spPr>
        <p:txBody>
          <a:bodyPr spcFirstLastPara="1" wrap="square" lIns="91425" tIns="91425" rIns="91425" bIns="91425" anchor="t" anchorCtr="0">
            <a:noAutofit/>
          </a:bodyPr>
          <a:lstStyle/>
          <a:p>
            <a:pPr lvl="0" indent="-304800" algn="just">
              <a:buClr>
                <a:srgbClr val="000000"/>
              </a:buClr>
              <a:buSzPts val="1200"/>
              <a:buFont typeface="Wingdings" panose="05000000000000000000" pitchFamily="2" charset="2"/>
              <a:buChar char="Ø"/>
            </a:pPr>
            <a:r>
              <a:rPr lang="en-GB" sz="1200" b="1" i="1" dirty="0" smtClean="0">
                <a:solidFill>
                  <a:schemeClr val="bg2">
                    <a:lumMod val="50000"/>
                  </a:schemeClr>
                </a:solidFill>
                <a:latin typeface="Times New Roman" panose="02020603050405020304" pitchFamily="18" charset="0"/>
                <a:cs typeface="Times New Roman" panose="02020603050405020304" pitchFamily="18" charset="0"/>
              </a:rPr>
              <a:t>Machine Learning:  </a:t>
            </a:r>
            <a:r>
              <a:rPr lang="en-GB" sz="1200" dirty="0">
                <a:solidFill>
                  <a:schemeClr val="bg2">
                    <a:lumMod val="50000"/>
                  </a:schemeClr>
                </a:solidFill>
                <a:latin typeface="Times New Roman" panose="02020603050405020304" pitchFamily="18" charset="0"/>
                <a:cs typeface="Times New Roman" panose="02020603050405020304" pitchFamily="18" charset="0"/>
              </a:rPr>
              <a:t>A field of AI where computers learn patterns from data and make decisions without being explicitly programmed</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a:t>
            </a:r>
          </a:p>
          <a:p>
            <a:pPr lvl="0" indent="-304800" algn="just">
              <a:buClr>
                <a:srgbClr val="000000"/>
              </a:buClr>
              <a:buSzPts val="1200"/>
              <a:buFont typeface="Wingdings" panose="05000000000000000000" pitchFamily="2" charset="2"/>
              <a:buChar char="Ø"/>
            </a:pPr>
            <a:r>
              <a:rPr lang="en-GB" sz="1200" b="1" i="1" dirty="0">
                <a:solidFill>
                  <a:schemeClr val="bg2">
                    <a:lumMod val="50000"/>
                  </a:schemeClr>
                </a:solidFill>
                <a:latin typeface="Times New Roman" panose="02020603050405020304" pitchFamily="18" charset="0"/>
                <a:cs typeface="Times New Roman" panose="02020603050405020304" pitchFamily="18" charset="0"/>
              </a:rPr>
              <a:t>Dataset: </a:t>
            </a:r>
            <a:r>
              <a:rPr lang="en-GB" sz="1200" dirty="0">
                <a:solidFill>
                  <a:schemeClr val="bg2">
                    <a:lumMod val="50000"/>
                  </a:schemeClr>
                </a:solidFill>
                <a:latin typeface="Times New Roman" panose="02020603050405020304" pitchFamily="18" charset="0"/>
                <a:cs typeface="Times New Roman" panose="02020603050405020304" pitchFamily="18" charset="0"/>
              </a:rPr>
              <a:t>A collection of data used for training and testing a </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model. Example</a:t>
            </a:r>
            <a:r>
              <a:rPr lang="en-GB" sz="1200" dirty="0">
                <a:solidFill>
                  <a:schemeClr val="bg2">
                    <a:lumMod val="50000"/>
                  </a:schemeClr>
                </a:solidFill>
                <a:latin typeface="Times New Roman" panose="02020603050405020304" pitchFamily="18" charset="0"/>
                <a:cs typeface="Times New Roman" panose="02020603050405020304" pitchFamily="18" charset="0"/>
              </a:rPr>
              <a:t>: Student marks, images, medical records</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a:t>
            </a:r>
          </a:p>
          <a:p>
            <a:pPr lvl="0" indent="-304800" algn="just">
              <a:buClr>
                <a:srgbClr val="000000"/>
              </a:buClr>
              <a:buSzPts val="1200"/>
              <a:buFont typeface="Wingdings" panose="05000000000000000000" pitchFamily="2" charset="2"/>
              <a:buChar char="Ø"/>
            </a:pPr>
            <a:r>
              <a:rPr lang="en-GB" sz="1200" b="1" i="1" dirty="0">
                <a:solidFill>
                  <a:schemeClr val="bg2">
                    <a:lumMod val="50000"/>
                  </a:schemeClr>
                </a:solidFill>
                <a:latin typeface="Times New Roman" panose="02020603050405020304" pitchFamily="18" charset="0"/>
                <a:cs typeface="Times New Roman" panose="02020603050405020304" pitchFamily="18" charset="0"/>
              </a:rPr>
              <a:t>Feature: </a:t>
            </a:r>
            <a:r>
              <a:rPr lang="en-GB" sz="1200" dirty="0">
                <a:solidFill>
                  <a:schemeClr val="bg2">
                    <a:lumMod val="50000"/>
                  </a:schemeClr>
                </a:solidFill>
                <a:latin typeface="Times New Roman" panose="02020603050405020304" pitchFamily="18" charset="0"/>
                <a:cs typeface="Times New Roman" panose="02020603050405020304" pitchFamily="18" charset="0"/>
              </a:rPr>
              <a:t>An individual measurable property of </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data. Example</a:t>
            </a:r>
            <a:r>
              <a:rPr lang="en-GB" sz="1200" dirty="0">
                <a:solidFill>
                  <a:schemeClr val="bg2">
                    <a:lumMod val="50000"/>
                  </a:schemeClr>
                </a:solidFill>
                <a:latin typeface="Times New Roman" panose="02020603050405020304" pitchFamily="18" charset="0"/>
                <a:cs typeface="Times New Roman" panose="02020603050405020304" pitchFamily="18" charset="0"/>
              </a:rPr>
              <a:t>: Age, height, pixel </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value</a:t>
            </a:r>
          </a:p>
          <a:p>
            <a:pPr lvl="0" indent="-304800" algn="just">
              <a:buClr>
                <a:srgbClr val="000000"/>
              </a:buClr>
              <a:buSzPts val="1200"/>
              <a:buFont typeface="Wingdings" panose="05000000000000000000" pitchFamily="2" charset="2"/>
              <a:buChar char="Ø"/>
            </a:pPr>
            <a:r>
              <a:rPr lang="en-GB" sz="1200" b="1" i="1" dirty="0">
                <a:solidFill>
                  <a:schemeClr val="bg2">
                    <a:lumMod val="50000"/>
                  </a:schemeClr>
                </a:solidFill>
                <a:latin typeface="Times New Roman" panose="02020603050405020304" pitchFamily="18" charset="0"/>
                <a:cs typeface="Times New Roman" panose="02020603050405020304" pitchFamily="18" charset="0"/>
              </a:rPr>
              <a:t>Label / Target: </a:t>
            </a:r>
            <a:r>
              <a:rPr lang="en-GB" sz="1200" dirty="0">
                <a:solidFill>
                  <a:schemeClr val="bg2">
                    <a:lumMod val="50000"/>
                  </a:schemeClr>
                </a:solidFill>
                <a:latin typeface="Times New Roman" panose="02020603050405020304" pitchFamily="18" charset="0"/>
                <a:cs typeface="Times New Roman" panose="02020603050405020304" pitchFamily="18" charset="0"/>
              </a:rPr>
              <a:t>The output or correct answer for supervised </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learning. Example</a:t>
            </a:r>
            <a:r>
              <a:rPr lang="en-GB" sz="1200" dirty="0">
                <a:solidFill>
                  <a:schemeClr val="bg2">
                    <a:lumMod val="50000"/>
                  </a:schemeClr>
                </a:solidFill>
                <a:latin typeface="Times New Roman" panose="02020603050405020304" pitchFamily="18" charset="0"/>
                <a:cs typeface="Times New Roman" panose="02020603050405020304" pitchFamily="18" charset="0"/>
              </a:rPr>
              <a:t>: Pass/Fail, Spam/Not Spam</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a:t>
            </a:r>
          </a:p>
          <a:p>
            <a:pPr indent="-304800" algn="just">
              <a:buClr>
                <a:srgbClr val="000000"/>
              </a:buClr>
              <a:buSzPts val="1200"/>
              <a:buFont typeface="Wingdings" panose="05000000000000000000" pitchFamily="2" charset="2"/>
              <a:buChar char="Ø"/>
            </a:pPr>
            <a:r>
              <a:rPr lang="en-GB" sz="1200" b="1" i="1" dirty="0">
                <a:solidFill>
                  <a:schemeClr val="bg2">
                    <a:lumMod val="50000"/>
                  </a:schemeClr>
                </a:solidFill>
                <a:latin typeface="Times New Roman" panose="02020603050405020304" pitchFamily="18" charset="0"/>
                <a:cs typeface="Times New Roman" panose="02020603050405020304" pitchFamily="18" charset="0"/>
              </a:rPr>
              <a:t>Pattern Recognition: </a:t>
            </a:r>
            <a:r>
              <a:rPr lang="en-GB" sz="1200" dirty="0">
                <a:solidFill>
                  <a:schemeClr val="bg2">
                    <a:lumMod val="50000"/>
                  </a:schemeClr>
                </a:solidFill>
                <a:latin typeface="Times New Roman" panose="02020603050405020304" pitchFamily="18" charset="0"/>
                <a:cs typeface="Times New Roman" panose="02020603050405020304" pitchFamily="18" charset="0"/>
              </a:rPr>
              <a:t>Process of identifying patterns and regularities in data.</a:t>
            </a:r>
          </a:p>
          <a:p>
            <a:pPr lvl="0" indent="-304800" algn="just">
              <a:buClr>
                <a:srgbClr val="000000"/>
              </a:buClr>
              <a:buSzPts val="1200"/>
              <a:buFont typeface="Wingdings" panose="05000000000000000000" pitchFamily="2" charset="2"/>
              <a:buChar char="Ø"/>
            </a:pPr>
            <a:r>
              <a:rPr lang="en-GB" sz="1200" b="1" i="1" dirty="0">
                <a:solidFill>
                  <a:schemeClr val="bg2">
                    <a:lumMod val="50000"/>
                  </a:schemeClr>
                </a:solidFill>
                <a:latin typeface="Times New Roman" panose="02020603050405020304" pitchFamily="18" charset="0"/>
                <a:cs typeface="Times New Roman" panose="02020603050405020304" pitchFamily="18" charset="0"/>
              </a:rPr>
              <a:t>Pattern</a:t>
            </a:r>
            <a:r>
              <a:rPr lang="en-GB" sz="1200" dirty="0">
                <a:solidFill>
                  <a:schemeClr val="bg2">
                    <a:lumMod val="50000"/>
                  </a:schemeClr>
                </a:solidFill>
                <a:latin typeface="Times New Roman" panose="02020603050405020304" pitchFamily="18" charset="0"/>
                <a:cs typeface="Times New Roman" panose="02020603050405020304" pitchFamily="18" charset="0"/>
              </a:rPr>
              <a:t>: A set of features representing an </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object. Example</a:t>
            </a:r>
            <a:r>
              <a:rPr lang="en-GB" sz="1200" dirty="0">
                <a:solidFill>
                  <a:schemeClr val="bg2">
                    <a:lumMod val="50000"/>
                  </a:schemeClr>
                </a:solidFill>
                <a:latin typeface="Times New Roman" panose="02020603050405020304" pitchFamily="18" charset="0"/>
                <a:cs typeface="Times New Roman" panose="02020603050405020304" pitchFamily="18" charset="0"/>
              </a:rPr>
              <a:t>: Handwritten digit image</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a:t>
            </a:r>
          </a:p>
          <a:p>
            <a:pPr lvl="0" indent="-304800" algn="just">
              <a:buClr>
                <a:srgbClr val="000000"/>
              </a:buClr>
              <a:buSzPts val="1200"/>
              <a:buFont typeface="Wingdings" panose="05000000000000000000" pitchFamily="2" charset="2"/>
              <a:buChar char="Ø"/>
            </a:pPr>
            <a:r>
              <a:rPr lang="en-GB" sz="1200" b="1" i="1" dirty="0">
                <a:solidFill>
                  <a:schemeClr val="bg2">
                    <a:lumMod val="50000"/>
                  </a:schemeClr>
                </a:solidFill>
                <a:latin typeface="Times New Roman" panose="02020603050405020304" pitchFamily="18" charset="0"/>
                <a:cs typeface="Times New Roman" panose="02020603050405020304" pitchFamily="18" charset="0"/>
              </a:rPr>
              <a:t>Feature Vector: </a:t>
            </a:r>
            <a:r>
              <a:rPr lang="en-GB" sz="1200" dirty="0">
                <a:solidFill>
                  <a:schemeClr val="bg2">
                    <a:lumMod val="50000"/>
                  </a:schemeClr>
                </a:solidFill>
                <a:latin typeface="Times New Roman" panose="02020603050405020304" pitchFamily="18" charset="0"/>
                <a:cs typeface="Times New Roman" panose="02020603050405020304" pitchFamily="18" charset="0"/>
              </a:rPr>
              <a:t>A numerical representation of a </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pattern. Example</a:t>
            </a:r>
            <a:r>
              <a:rPr lang="en-GB" sz="1200" dirty="0">
                <a:solidFill>
                  <a:schemeClr val="bg2">
                    <a:lumMod val="50000"/>
                  </a:schemeClr>
                </a:solidFill>
                <a:latin typeface="Times New Roman" panose="02020603050405020304" pitchFamily="18" charset="0"/>
                <a:cs typeface="Times New Roman" panose="02020603050405020304" pitchFamily="18" charset="0"/>
              </a:rPr>
              <a:t>: [height, width, </a:t>
            </a:r>
            <a:r>
              <a:rPr lang="en-GB" sz="1200" dirty="0" err="1">
                <a:solidFill>
                  <a:schemeClr val="bg2">
                    <a:lumMod val="50000"/>
                  </a:schemeClr>
                </a:solidFill>
                <a:latin typeface="Times New Roman" panose="02020603050405020304" pitchFamily="18" charset="0"/>
                <a:cs typeface="Times New Roman" panose="02020603050405020304" pitchFamily="18" charset="0"/>
              </a:rPr>
              <a:t>color</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a:t>
            </a:r>
          </a:p>
          <a:p>
            <a:pPr lvl="0" indent="-304800" algn="just">
              <a:buClr>
                <a:srgbClr val="000000"/>
              </a:buClr>
              <a:buSzPts val="1200"/>
              <a:buFont typeface="Wingdings" panose="05000000000000000000" pitchFamily="2" charset="2"/>
              <a:buChar char="Ø"/>
            </a:pPr>
            <a:r>
              <a:rPr lang="en-GB" sz="1200" b="1" dirty="0">
                <a:solidFill>
                  <a:schemeClr val="bg2">
                    <a:lumMod val="50000"/>
                  </a:schemeClr>
                </a:solidFill>
                <a:latin typeface="Times New Roman" panose="02020603050405020304" pitchFamily="18" charset="0"/>
                <a:cs typeface="Times New Roman" panose="02020603050405020304" pitchFamily="18" charset="0"/>
              </a:rPr>
              <a:t>Decision </a:t>
            </a:r>
            <a:r>
              <a:rPr lang="en-GB" sz="1200" b="1" dirty="0" smtClean="0">
                <a:solidFill>
                  <a:schemeClr val="bg2">
                    <a:lumMod val="50000"/>
                  </a:schemeClr>
                </a:solidFill>
                <a:latin typeface="Times New Roman" panose="02020603050405020304" pitchFamily="18" charset="0"/>
                <a:cs typeface="Times New Roman" panose="02020603050405020304" pitchFamily="18" charset="0"/>
              </a:rPr>
              <a:t>Boundary</a:t>
            </a:r>
            <a:r>
              <a:rPr lang="en-GB" sz="1200" b="1" dirty="0">
                <a:solidFill>
                  <a:schemeClr val="bg2">
                    <a:lumMod val="50000"/>
                  </a:schemeClr>
                </a:solidFill>
                <a:latin typeface="Times New Roman" panose="02020603050405020304" pitchFamily="18" charset="0"/>
                <a:cs typeface="Times New Roman" panose="02020603050405020304" pitchFamily="18" charset="0"/>
              </a:rPr>
              <a:t>: A line or surface separating different classes.</a:t>
            </a:r>
            <a:endParaRPr lang="en-GB" sz="1200" b="1" dirty="0" smtClean="0">
              <a:solidFill>
                <a:schemeClr val="bg2">
                  <a:lumMod val="50000"/>
                </a:schemeClr>
              </a:solidFill>
              <a:latin typeface="Times New Roman" panose="02020603050405020304" pitchFamily="18" charset="0"/>
              <a:cs typeface="Times New Roman" panose="02020603050405020304" pitchFamily="18" charset="0"/>
            </a:endParaRPr>
          </a:p>
          <a:p>
            <a:pPr lvl="0" indent="-304800" algn="just">
              <a:buClr>
                <a:srgbClr val="000000"/>
              </a:buClr>
              <a:buSzPts val="1200"/>
              <a:buFont typeface="Wingdings" panose="05000000000000000000" pitchFamily="2" charset="2"/>
              <a:buChar char="Ø"/>
            </a:pPr>
            <a:r>
              <a:rPr lang="en-GB" sz="1200" b="1" i="1" dirty="0">
                <a:solidFill>
                  <a:schemeClr val="bg2">
                    <a:lumMod val="50000"/>
                  </a:schemeClr>
                </a:solidFill>
                <a:latin typeface="Times New Roman" panose="02020603050405020304" pitchFamily="18" charset="0"/>
                <a:cs typeface="Times New Roman" panose="02020603050405020304" pitchFamily="18" charset="0"/>
              </a:rPr>
              <a:t>Class: </a:t>
            </a:r>
            <a:r>
              <a:rPr lang="en-GB" sz="1200" dirty="0">
                <a:solidFill>
                  <a:schemeClr val="bg2">
                    <a:lumMod val="50000"/>
                  </a:schemeClr>
                </a:solidFill>
                <a:latin typeface="Times New Roman" panose="02020603050405020304" pitchFamily="18" charset="0"/>
                <a:cs typeface="Times New Roman" panose="02020603050405020304" pitchFamily="18" charset="0"/>
              </a:rPr>
              <a:t>A category to which a pattern </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belongs. Example</a:t>
            </a:r>
            <a:r>
              <a:rPr lang="en-GB" sz="1200" dirty="0">
                <a:solidFill>
                  <a:schemeClr val="bg2">
                    <a:lumMod val="50000"/>
                  </a:schemeClr>
                </a:solidFill>
                <a:latin typeface="Times New Roman" panose="02020603050405020304" pitchFamily="18" charset="0"/>
                <a:cs typeface="Times New Roman" panose="02020603050405020304" pitchFamily="18" charset="0"/>
              </a:rPr>
              <a:t>: Digits (0–9</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a:t>
            </a:r>
          </a:p>
          <a:p>
            <a:pPr lvl="0" indent="-304800" algn="just">
              <a:buClr>
                <a:srgbClr val="000000"/>
              </a:buClr>
              <a:buSzPts val="1200"/>
              <a:buFont typeface="Wingdings" panose="05000000000000000000" pitchFamily="2" charset="2"/>
              <a:buChar char="Ø"/>
            </a:pPr>
            <a:r>
              <a:rPr lang="en-GB" sz="1200" b="1" dirty="0">
                <a:solidFill>
                  <a:schemeClr val="bg2">
                    <a:lumMod val="50000"/>
                  </a:schemeClr>
                </a:solidFill>
                <a:latin typeface="Times New Roman" panose="02020603050405020304" pitchFamily="18" charset="0"/>
                <a:ea typeface="Times New Roman"/>
                <a:cs typeface="Times New Roman" panose="02020603050405020304" pitchFamily="18" charset="0"/>
                <a:sym typeface="Times New Roman"/>
              </a:rPr>
              <a:t>Model: </a:t>
            </a:r>
            <a:r>
              <a:rPr lang="en-GB" sz="1200" dirty="0">
                <a:solidFill>
                  <a:schemeClr val="bg2">
                    <a:lumMod val="50000"/>
                  </a:schemeClr>
                </a:solidFill>
                <a:latin typeface="Times New Roman" panose="02020603050405020304" pitchFamily="18" charset="0"/>
                <a:ea typeface="Times New Roman"/>
                <a:cs typeface="Times New Roman" panose="02020603050405020304" pitchFamily="18" charset="0"/>
                <a:sym typeface="Times New Roman"/>
              </a:rPr>
              <a:t>A mathematical representation that learns patterns from data</a:t>
            </a:r>
            <a:r>
              <a:rPr lang="en-GB" sz="1200" dirty="0" smtClean="0">
                <a:solidFill>
                  <a:schemeClr val="bg2">
                    <a:lumMod val="50000"/>
                  </a:schemeClr>
                </a:solidFill>
                <a:latin typeface="Times New Roman" panose="02020603050405020304" pitchFamily="18" charset="0"/>
                <a:ea typeface="Times New Roman"/>
                <a:cs typeface="Times New Roman" panose="02020603050405020304" pitchFamily="18" charset="0"/>
                <a:sym typeface="Times New Roman"/>
              </a:rPr>
              <a:t>.</a:t>
            </a:r>
          </a:p>
          <a:p>
            <a:pPr lvl="0" indent="-304800" algn="just">
              <a:buClr>
                <a:srgbClr val="000000"/>
              </a:buClr>
              <a:buSzPts val="1200"/>
              <a:buFont typeface="Wingdings" panose="05000000000000000000" pitchFamily="2" charset="2"/>
              <a:buChar char="Ø"/>
            </a:pPr>
            <a:r>
              <a:rPr lang="en-GB" sz="1200" b="1" dirty="0">
                <a:solidFill>
                  <a:schemeClr val="bg2">
                    <a:lumMod val="50000"/>
                  </a:schemeClr>
                </a:solidFill>
                <a:latin typeface="Times New Roman" panose="02020603050405020304" pitchFamily="18" charset="0"/>
                <a:ea typeface="Times New Roman"/>
                <a:cs typeface="Times New Roman" panose="02020603050405020304" pitchFamily="18" charset="0"/>
                <a:sym typeface="Times New Roman"/>
              </a:rPr>
              <a:t>Accuracy: </a:t>
            </a:r>
            <a:r>
              <a:rPr lang="en-GB" sz="1200" dirty="0">
                <a:solidFill>
                  <a:schemeClr val="bg2">
                    <a:lumMod val="50000"/>
                  </a:schemeClr>
                </a:solidFill>
                <a:latin typeface="Times New Roman" panose="02020603050405020304" pitchFamily="18" charset="0"/>
                <a:ea typeface="Times New Roman"/>
                <a:cs typeface="Times New Roman" panose="02020603050405020304" pitchFamily="18" charset="0"/>
                <a:sym typeface="Times New Roman"/>
              </a:rPr>
              <a:t>Percentage of correct predictions.</a:t>
            </a:r>
            <a:endParaRPr sz="1200" dirty="0">
              <a:solidFill>
                <a:schemeClr val="bg2">
                  <a:lumMod val="50000"/>
                </a:schemeClr>
              </a:solidFill>
              <a:latin typeface="Times New Roman" panose="02020603050405020304" pitchFamily="18" charset="0"/>
              <a:ea typeface="Times New Roman"/>
              <a:cs typeface="Times New Roman" panose="02020603050405020304" pitchFamily="18" charset="0"/>
              <a:sym typeface="Times New Roman"/>
            </a:endParaRPr>
          </a:p>
        </p:txBody>
      </p:sp>
      <p:pic>
        <p:nvPicPr>
          <p:cNvPr id="1026" name="Picture 2" descr="Pattern Recognition in Machine Learning | by SoluLab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1712" y="3009579"/>
            <a:ext cx="5020588" cy="19962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136800"/>
            <a:ext cx="8520600" cy="707400"/>
          </a:xfrm>
          <a:prstGeom prst="rect">
            <a:avLst/>
          </a:prstGeom>
        </p:spPr>
        <p:txBody>
          <a:bodyPr spcFirstLastPara="1" wrap="square" lIns="91425" tIns="91425" rIns="91425" bIns="91425" anchor="t" anchorCtr="0">
            <a:normAutofit fontScale="90000"/>
          </a:bodyPr>
          <a:lstStyle/>
          <a:p>
            <a:r>
              <a:rPr lang="en-GB" dirty="0"/>
              <a:t>ML &amp; PR: </a:t>
            </a:r>
            <a:r>
              <a:rPr lang="en-GB" b="0" dirty="0"/>
              <a:t>Machine Learning </a:t>
            </a:r>
            <a:r>
              <a:rPr lang="en-GB" b="0" dirty="0" smtClean="0"/>
              <a:t>Working Principles</a:t>
            </a:r>
            <a:endParaRPr dirty="0"/>
          </a:p>
        </p:txBody>
      </p:sp>
      <p:sp>
        <p:nvSpPr>
          <p:cNvPr id="79" name="Google Shape;79;p15"/>
          <p:cNvSpPr txBox="1">
            <a:spLocks noGrp="1"/>
          </p:cNvSpPr>
          <p:nvPr>
            <p:ph type="body" idx="1"/>
          </p:nvPr>
        </p:nvSpPr>
        <p:spPr>
          <a:xfrm>
            <a:off x="311700" y="844200"/>
            <a:ext cx="8520600" cy="3724825"/>
          </a:xfrm>
          <a:prstGeom prst="rect">
            <a:avLst/>
          </a:prstGeom>
        </p:spPr>
        <p:txBody>
          <a:bodyPr spcFirstLastPara="1" wrap="square" lIns="91425" tIns="91425" rIns="91425" bIns="91425" anchor="t" anchorCtr="0">
            <a:normAutofit/>
          </a:bodyPr>
          <a:lstStyle/>
          <a:p>
            <a:pPr marL="0" indent="0">
              <a:spcBef>
                <a:spcPts val="1200"/>
              </a:spcBef>
              <a:buNone/>
            </a:pPr>
            <a:r>
              <a:rPr lang="en-GB" sz="1200" dirty="0" smtClean="0">
                <a:solidFill>
                  <a:schemeClr val="bg2">
                    <a:lumMod val="50000"/>
                  </a:schemeClr>
                </a:solidFill>
                <a:latin typeface="Times New Roman" panose="02020603050405020304" pitchFamily="18" charset="0"/>
                <a:cs typeface="Times New Roman" panose="02020603050405020304" pitchFamily="18" charset="0"/>
              </a:rPr>
              <a:t>Machine </a:t>
            </a:r>
            <a:r>
              <a:rPr lang="en-GB" sz="1200" dirty="0">
                <a:solidFill>
                  <a:schemeClr val="bg2">
                    <a:lumMod val="50000"/>
                  </a:schemeClr>
                </a:solidFill>
                <a:latin typeface="Times New Roman" panose="02020603050405020304" pitchFamily="18" charset="0"/>
                <a:cs typeface="Times New Roman" panose="02020603050405020304" pitchFamily="18" charset="0"/>
              </a:rPr>
              <a:t>Learning process includes Project Setup, Data Preparation, </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Modelling </a:t>
            </a:r>
            <a:r>
              <a:rPr lang="en-GB" sz="1200" dirty="0">
                <a:solidFill>
                  <a:schemeClr val="bg2">
                    <a:lumMod val="50000"/>
                  </a:schemeClr>
                </a:solidFill>
                <a:latin typeface="Times New Roman" panose="02020603050405020304" pitchFamily="18" charset="0"/>
                <a:cs typeface="Times New Roman" panose="02020603050405020304" pitchFamily="18" charset="0"/>
              </a:rPr>
              <a:t>and Deployment</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 </a:t>
            </a:r>
            <a:r>
              <a:rPr lang="en-GB" sz="1200" dirty="0">
                <a:solidFill>
                  <a:schemeClr val="bg2">
                    <a:lumMod val="50000"/>
                  </a:schemeClr>
                </a:solidFill>
                <a:latin typeface="Times New Roman" panose="02020603050405020304" pitchFamily="18" charset="0"/>
                <a:cs typeface="Times New Roman" panose="02020603050405020304" pitchFamily="18" charset="0"/>
              </a:rPr>
              <a:t>The following figure demonstrates the common working process of Machine Learning. It follows some set of steps to do the task; a sequential process of its workflow is as follows</a:t>
            </a:r>
            <a:r>
              <a:rPr lang="en-GB" sz="1200" dirty="0" smtClean="0">
                <a:solidFill>
                  <a:schemeClr val="bg2">
                    <a:lumMod val="50000"/>
                  </a:schemeClr>
                </a:solidFill>
                <a:latin typeface="Times New Roman" panose="02020603050405020304" pitchFamily="18" charset="0"/>
                <a:cs typeface="Times New Roman" panose="02020603050405020304" pitchFamily="18" charset="0"/>
              </a:rPr>
              <a:t>:</a:t>
            </a:r>
            <a:endParaRPr lang="en-GB" sz="1200" dirty="0">
              <a:solidFill>
                <a:schemeClr val="bg2">
                  <a:lumMod val="50000"/>
                </a:schemeClr>
              </a:solidFill>
              <a:latin typeface="Times New Roman" panose="02020603050405020304" pitchFamily="18" charset="0"/>
              <a:cs typeface="Times New Roman" panose="02020603050405020304" pitchFamily="18" charset="0"/>
            </a:endParaRPr>
          </a:p>
        </p:txBody>
      </p:sp>
      <p:pic>
        <p:nvPicPr>
          <p:cNvPr id="2050" name="Picture 2" descr="Fundamental Blocks of Machine Learning Proc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674" y="2095928"/>
            <a:ext cx="6061753" cy="2178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2" name="Title 1"/>
          <p:cNvSpPr>
            <a:spLocks noGrp="1"/>
          </p:cNvSpPr>
          <p:nvPr>
            <p:ph type="title"/>
          </p:nvPr>
        </p:nvSpPr>
        <p:spPr>
          <a:xfrm>
            <a:off x="311700" y="116252"/>
            <a:ext cx="8520600" cy="707400"/>
          </a:xfrm>
        </p:spPr>
        <p:txBody>
          <a:bodyPr>
            <a:normAutofit fontScale="90000"/>
          </a:bodyPr>
          <a:lstStyle/>
          <a:p>
            <a:r>
              <a:rPr lang="en-GB" dirty="0"/>
              <a:t>ML &amp; PR</a:t>
            </a:r>
            <a:r>
              <a:rPr lang="en-GB" dirty="0" smtClean="0"/>
              <a:t>: </a:t>
            </a:r>
            <a:r>
              <a:rPr lang="en-GB" b="0" dirty="0" smtClean="0"/>
              <a:t>Stages </a:t>
            </a:r>
            <a:r>
              <a:rPr lang="en-GB" b="0" dirty="0"/>
              <a:t>of Machine Learning</a:t>
            </a:r>
            <a:br>
              <a:rPr lang="en-GB" b="0" dirty="0"/>
            </a:br>
            <a:endParaRPr lang="en-GB" dirty="0"/>
          </a:p>
        </p:txBody>
      </p:sp>
      <p:pic>
        <p:nvPicPr>
          <p:cNvPr id="3075" name="Picture 3" descr="Sequential Process flow of Machine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3317" y="770296"/>
            <a:ext cx="4405009" cy="4161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title"/>
          </p:nvPr>
        </p:nvSpPr>
        <p:spPr>
          <a:xfrm>
            <a:off x="311700" y="73977"/>
            <a:ext cx="8520600" cy="707400"/>
          </a:xfrm>
          <a:prstGeom prst="rect">
            <a:avLst/>
          </a:prstGeom>
        </p:spPr>
        <p:txBody>
          <a:bodyPr spcFirstLastPara="1" wrap="square" lIns="91425" tIns="91425" rIns="91425" bIns="91425" anchor="t" anchorCtr="0">
            <a:normAutofit fontScale="90000"/>
          </a:bodyPr>
          <a:lstStyle/>
          <a:p>
            <a:r>
              <a:rPr lang="en-GB" dirty="0"/>
              <a:t>ML &amp; PR: </a:t>
            </a:r>
            <a:r>
              <a:rPr lang="en-GB" b="0" dirty="0" smtClean="0"/>
              <a:t>Types </a:t>
            </a:r>
            <a:r>
              <a:rPr lang="en-GB" b="0" dirty="0"/>
              <a:t>of Machine Learning</a:t>
            </a:r>
          </a:p>
        </p:txBody>
      </p:sp>
      <p:sp>
        <p:nvSpPr>
          <p:cNvPr id="100" name="Google Shape;100;p17"/>
          <p:cNvSpPr txBox="1">
            <a:spLocks noGrp="1"/>
          </p:cNvSpPr>
          <p:nvPr>
            <p:ph type="body" idx="1"/>
          </p:nvPr>
        </p:nvSpPr>
        <p:spPr>
          <a:xfrm>
            <a:off x="311699" y="792927"/>
            <a:ext cx="8164481" cy="4035927"/>
          </a:xfrm>
          <a:prstGeom prst="rect">
            <a:avLst/>
          </a:prstGeom>
        </p:spPr>
        <p:txBody>
          <a:bodyPr spcFirstLastPara="1" wrap="square" lIns="91425" tIns="91425" rIns="91425" bIns="91425" anchor="t" anchorCtr="0">
            <a:normAutofit/>
          </a:bodyPr>
          <a:lstStyle/>
          <a:p>
            <a:pPr marL="152400" lvl="0" indent="0">
              <a:buClr>
                <a:srgbClr val="000000"/>
              </a:buClr>
              <a:buSzPts val="1200"/>
              <a:buNone/>
            </a:pPr>
            <a:r>
              <a:rPr lang="en-GB" sz="1200" dirty="0">
                <a:solidFill>
                  <a:srgbClr val="000000"/>
                </a:solidFill>
                <a:latin typeface="Times New Roman"/>
                <a:ea typeface="Times New Roman"/>
                <a:cs typeface="Times New Roman"/>
                <a:sym typeface="Times New Roman"/>
              </a:rPr>
              <a:t>Machine learning models fall into the following categories</a:t>
            </a:r>
            <a:r>
              <a:rPr lang="en-GB" sz="1200" dirty="0" smtClean="0">
                <a:solidFill>
                  <a:srgbClr val="000000"/>
                </a:solidFill>
                <a:latin typeface="Times New Roman"/>
                <a:ea typeface="Times New Roman"/>
                <a:cs typeface="Times New Roman"/>
                <a:sym typeface="Times New Roman"/>
              </a:rPr>
              <a:t>:</a:t>
            </a:r>
          </a:p>
          <a:p>
            <a:pPr marL="323850" lvl="0" indent="-171450">
              <a:buClr>
                <a:srgbClr val="000000"/>
              </a:buClr>
              <a:buSzPts val="1200"/>
              <a:buFont typeface="Wingdings" panose="05000000000000000000" pitchFamily="2" charset="2"/>
              <a:buChar char="Ø"/>
            </a:pPr>
            <a:r>
              <a:rPr lang="en-GB" sz="1200" dirty="0">
                <a:solidFill>
                  <a:srgbClr val="000000"/>
                </a:solidFill>
                <a:latin typeface="Times New Roman"/>
                <a:ea typeface="Times New Roman"/>
                <a:cs typeface="Times New Roman"/>
                <a:sym typeface="Times New Roman"/>
              </a:rPr>
              <a:t>Supervised Machine </a:t>
            </a:r>
            <a:r>
              <a:rPr lang="en-GB" sz="1200" dirty="0" smtClean="0">
                <a:solidFill>
                  <a:srgbClr val="000000"/>
                </a:solidFill>
                <a:latin typeface="Times New Roman"/>
                <a:ea typeface="Times New Roman"/>
                <a:cs typeface="Times New Roman"/>
                <a:sym typeface="Times New Roman"/>
              </a:rPr>
              <a:t>Learning </a:t>
            </a:r>
            <a:r>
              <a:rPr lang="en-GB" sz="1200" dirty="0">
                <a:solidFill>
                  <a:srgbClr val="000000"/>
                </a:solidFill>
                <a:latin typeface="Times New Roman"/>
                <a:ea typeface="Times New Roman"/>
                <a:cs typeface="Times New Roman"/>
                <a:sym typeface="Times New Roman"/>
              </a:rPr>
              <a:t>− It is a type of machine learning that trains the model using </a:t>
            </a:r>
            <a:r>
              <a:rPr lang="en-GB" sz="1200" dirty="0" err="1">
                <a:solidFill>
                  <a:srgbClr val="000000"/>
                </a:solidFill>
                <a:latin typeface="Times New Roman"/>
                <a:ea typeface="Times New Roman"/>
                <a:cs typeface="Times New Roman"/>
                <a:sym typeface="Times New Roman"/>
              </a:rPr>
              <a:t>labeled</a:t>
            </a:r>
            <a:r>
              <a:rPr lang="en-GB" sz="1200" dirty="0">
                <a:solidFill>
                  <a:srgbClr val="000000"/>
                </a:solidFill>
                <a:latin typeface="Times New Roman"/>
                <a:ea typeface="Times New Roman"/>
                <a:cs typeface="Times New Roman"/>
                <a:sym typeface="Times New Roman"/>
              </a:rPr>
              <a:t> datasets to predict outcomes.</a:t>
            </a:r>
            <a:endParaRPr sz="1200" dirty="0">
              <a:solidFill>
                <a:srgbClr val="000000"/>
              </a:solidFill>
              <a:latin typeface="Times New Roman"/>
              <a:ea typeface="Times New Roman"/>
              <a:cs typeface="Times New Roman"/>
              <a:sym typeface="Times New Roman"/>
            </a:endParaRPr>
          </a:p>
        </p:txBody>
      </p:sp>
      <p:pic>
        <p:nvPicPr>
          <p:cNvPr id="4098" name="Picture 2" descr="Supervised Machine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507" y="1779605"/>
            <a:ext cx="5717391" cy="25971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title"/>
          </p:nvPr>
        </p:nvSpPr>
        <p:spPr>
          <a:xfrm>
            <a:off x="311700" y="73977"/>
            <a:ext cx="8520600" cy="707400"/>
          </a:xfrm>
          <a:prstGeom prst="rect">
            <a:avLst/>
          </a:prstGeom>
        </p:spPr>
        <p:txBody>
          <a:bodyPr spcFirstLastPara="1" wrap="square" lIns="91425" tIns="91425" rIns="91425" bIns="91425" anchor="t" anchorCtr="0">
            <a:normAutofit fontScale="90000"/>
          </a:bodyPr>
          <a:lstStyle/>
          <a:p>
            <a:r>
              <a:rPr lang="en-GB" dirty="0"/>
              <a:t>ML &amp; PR: </a:t>
            </a:r>
            <a:r>
              <a:rPr lang="en-GB" b="0" dirty="0" smtClean="0"/>
              <a:t>Types </a:t>
            </a:r>
            <a:r>
              <a:rPr lang="en-GB" b="0" dirty="0"/>
              <a:t>of Machine Learning</a:t>
            </a:r>
          </a:p>
        </p:txBody>
      </p:sp>
      <p:sp>
        <p:nvSpPr>
          <p:cNvPr id="100" name="Google Shape;100;p17"/>
          <p:cNvSpPr txBox="1">
            <a:spLocks noGrp="1"/>
          </p:cNvSpPr>
          <p:nvPr>
            <p:ph type="body" idx="1"/>
          </p:nvPr>
        </p:nvSpPr>
        <p:spPr>
          <a:xfrm>
            <a:off x="311699" y="792927"/>
            <a:ext cx="8164481" cy="4035927"/>
          </a:xfrm>
          <a:prstGeom prst="rect">
            <a:avLst/>
          </a:prstGeom>
        </p:spPr>
        <p:txBody>
          <a:bodyPr spcFirstLastPara="1" wrap="square" lIns="91425" tIns="91425" rIns="91425" bIns="91425" anchor="t" anchorCtr="0">
            <a:normAutofit/>
          </a:bodyPr>
          <a:lstStyle/>
          <a:p>
            <a:pPr marL="323850" lvl="0" indent="-171450">
              <a:buClr>
                <a:srgbClr val="000000"/>
              </a:buClr>
              <a:buSzPts val="1200"/>
              <a:buFont typeface="Wingdings" panose="05000000000000000000" pitchFamily="2" charset="2"/>
              <a:buChar char="Ø"/>
            </a:pPr>
            <a:r>
              <a:rPr lang="en-GB" sz="1200" dirty="0" smtClean="0">
                <a:solidFill>
                  <a:srgbClr val="000000"/>
                </a:solidFill>
                <a:latin typeface="Times New Roman"/>
                <a:ea typeface="Times New Roman"/>
                <a:cs typeface="Times New Roman"/>
                <a:sym typeface="Times New Roman"/>
              </a:rPr>
              <a:t>Unsupervised </a:t>
            </a:r>
            <a:r>
              <a:rPr lang="en-GB" sz="1200" dirty="0">
                <a:solidFill>
                  <a:srgbClr val="000000"/>
                </a:solidFill>
                <a:latin typeface="Times New Roman"/>
                <a:ea typeface="Times New Roman"/>
                <a:cs typeface="Times New Roman"/>
                <a:sym typeface="Times New Roman"/>
              </a:rPr>
              <a:t>Machine Learning − It is a type of machine learning that learns patterns and structures within the data without human </a:t>
            </a:r>
            <a:r>
              <a:rPr lang="en-GB" sz="1200" dirty="0" smtClean="0">
                <a:solidFill>
                  <a:srgbClr val="000000"/>
                </a:solidFill>
                <a:latin typeface="Times New Roman"/>
                <a:ea typeface="Times New Roman"/>
                <a:cs typeface="Times New Roman"/>
                <a:sym typeface="Times New Roman"/>
              </a:rPr>
              <a:t>supervision.</a:t>
            </a:r>
            <a:endParaRPr sz="1200" dirty="0">
              <a:solidFill>
                <a:srgbClr val="000000"/>
              </a:solidFill>
              <a:latin typeface="Times New Roman"/>
              <a:ea typeface="Times New Roman"/>
              <a:cs typeface="Times New Roman"/>
              <a:sym typeface="Times New Roman"/>
            </a:endParaRPr>
          </a:p>
        </p:txBody>
      </p:sp>
      <p:pic>
        <p:nvPicPr>
          <p:cNvPr id="5122" name="Picture 2" descr="Unsupervised Machine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700" y="1658365"/>
            <a:ext cx="6224677" cy="2595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8546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title"/>
          </p:nvPr>
        </p:nvSpPr>
        <p:spPr>
          <a:xfrm>
            <a:off x="311700" y="73977"/>
            <a:ext cx="8520600" cy="707400"/>
          </a:xfrm>
          <a:prstGeom prst="rect">
            <a:avLst/>
          </a:prstGeom>
        </p:spPr>
        <p:txBody>
          <a:bodyPr spcFirstLastPara="1" wrap="square" lIns="91425" tIns="91425" rIns="91425" bIns="91425" anchor="t" anchorCtr="0">
            <a:normAutofit fontScale="90000"/>
          </a:bodyPr>
          <a:lstStyle/>
          <a:p>
            <a:r>
              <a:rPr lang="en-GB" dirty="0"/>
              <a:t>ML &amp; PR: </a:t>
            </a:r>
            <a:r>
              <a:rPr lang="en-GB" b="0" dirty="0" smtClean="0"/>
              <a:t>Types </a:t>
            </a:r>
            <a:r>
              <a:rPr lang="en-GB" b="0" dirty="0"/>
              <a:t>of Machine Learning</a:t>
            </a:r>
          </a:p>
        </p:txBody>
      </p:sp>
      <p:sp>
        <p:nvSpPr>
          <p:cNvPr id="100" name="Google Shape;100;p17"/>
          <p:cNvSpPr txBox="1">
            <a:spLocks noGrp="1"/>
          </p:cNvSpPr>
          <p:nvPr>
            <p:ph type="body" idx="1"/>
          </p:nvPr>
        </p:nvSpPr>
        <p:spPr>
          <a:xfrm>
            <a:off x="349320" y="726252"/>
            <a:ext cx="8164481" cy="4035927"/>
          </a:xfrm>
          <a:prstGeom prst="rect">
            <a:avLst/>
          </a:prstGeom>
        </p:spPr>
        <p:txBody>
          <a:bodyPr spcFirstLastPara="1" wrap="square" lIns="91425" tIns="91425" rIns="91425" bIns="91425" anchor="t" anchorCtr="0">
            <a:normAutofit/>
          </a:bodyPr>
          <a:lstStyle/>
          <a:p>
            <a:pPr marL="323850" lvl="0" indent="-171450">
              <a:buClr>
                <a:srgbClr val="000000"/>
              </a:buClr>
              <a:buSzPts val="1200"/>
              <a:buFont typeface="Wingdings" panose="05000000000000000000" pitchFamily="2" charset="2"/>
              <a:buChar char="Ø"/>
            </a:pPr>
            <a:r>
              <a:rPr lang="en-GB" sz="1200" dirty="0">
                <a:solidFill>
                  <a:srgbClr val="000000"/>
                </a:solidFill>
                <a:latin typeface="Times New Roman"/>
                <a:ea typeface="Times New Roman"/>
                <a:cs typeface="Times New Roman"/>
                <a:sym typeface="Times New Roman"/>
              </a:rPr>
              <a:t>Semi-supervised Learning − It is a type of machine learning that is neither fully supervised nor fully unsupervised. The semi-supervised learning algorithms basically fall between supervised and unsupervised learning methods</a:t>
            </a:r>
            <a:r>
              <a:rPr lang="en-GB" sz="1200" dirty="0" smtClean="0">
                <a:solidFill>
                  <a:srgbClr val="000000"/>
                </a:solidFill>
                <a:latin typeface="Times New Roman"/>
                <a:ea typeface="Times New Roman"/>
                <a:cs typeface="Times New Roman"/>
                <a:sym typeface="Times New Roman"/>
              </a:rPr>
              <a:t>.</a:t>
            </a:r>
          </a:p>
          <a:p>
            <a:pPr marL="152400" lvl="0" indent="0">
              <a:buClr>
                <a:srgbClr val="000000"/>
              </a:buClr>
              <a:buSzPts val="1200"/>
              <a:buNone/>
            </a:pPr>
            <a:endParaRPr sz="1200" dirty="0">
              <a:solidFill>
                <a:srgbClr val="000000"/>
              </a:solidFill>
              <a:latin typeface="Times New Roman"/>
              <a:ea typeface="Times New Roman"/>
              <a:cs typeface="Times New Roman"/>
              <a:sym typeface="Times New Roman"/>
            </a:endParaRPr>
          </a:p>
        </p:txBody>
      </p:sp>
      <p:pic>
        <p:nvPicPr>
          <p:cNvPr id="6146" name="Picture 2" descr="Semi-supervised Machine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2257" y="1404887"/>
            <a:ext cx="5715000"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132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title"/>
          </p:nvPr>
        </p:nvSpPr>
        <p:spPr>
          <a:xfrm>
            <a:off x="311700" y="73977"/>
            <a:ext cx="8520600" cy="707400"/>
          </a:xfrm>
          <a:prstGeom prst="rect">
            <a:avLst/>
          </a:prstGeom>
        </p:spPr>
        <p:txBody>
          <a:bodyPr spcFirstLastPara="1" wrap="square" lIns="91425" tIns="91425" rIns="91425" bIns="91425" anchor="t" anchorCtr="0">
            <a:normAutofit fontScale="90000"/>
          </a:bodyPr>
          <a:lstStyle/>
          <a:p>
            <a:r>
              <a:rPr lang="en-GB" dirty="0"/>
              <a:t>ML &amp; PR: </a:t>
            </a:r>
            <a:r>
              <a:rPr lang="en-GB" b="0" dirty="0" smtClean="0"/>
              <a:t>Types </a:t>
            </a:r>
            <a:r>
              <a:rPr lang="en-GB" b="0" dirty="0"/>
              <a:t>of Machine Learning</a:t>
            </a:r>
          </a:p>
        </p:txBody>
      </p:sp>
      <p:sp>
        <p:nvSpPr>
          <p:cNvPr id="100" name="Google Shape;100;p17"/>
          <p:cNvSpPr txBox="1">
            <a:spLocks noGrp="1"/>
          </p:cNvSpPr>
          <p:nvPr>
            <p:ph type="body" idx="1"/>
          </p:nvPr>
        </p:nvSpPr>
        <p:spPr>
          <a:xfrm>
            <a:off x="349320" y="726252"/>
            <a:ext cx="8164481" cy="4035927"/>
          </a:xfrm>
          <a:prstGeom prst="rect">
            <a:avLst/>
          </a:prstGeom>
        </p:spPr>
        <p:txBody>
          <a:bodyPr spcFirstLastPara="1" wrap="square" lIns="91425" tIns="91425" rIns="91425" bIns="91425" anchor="t" anchorCtr="0">
            <a:normAutofit/>
          </a:bodyPr>
          <a:lstStyle/>
          <a:p>
            <a:pPr marL="323850" lvl="0" indent="-171450">
              <a:buClr>
                <a:srgbClr val="000000"/>
              </a:buClr>
              <a:buSzPts val="1200"/>
              <a:buFont typeface="Wingdings" panose="05000000000000000000" pitchFamily="2" charset="2"/>
              <a:buChar char="Ø"/>
            </a:pPr>
            <a:r>
              <a:rPr lang="en-GB" sz="1200" dirty="0">
                <a:solidFill>
                  <a:srgbClr val="000000"/>
                </a:solidFill>
                <a:latin typeface="Times New Roman"/>
                <a:ea typeface="Times New Roman"/>
                <a:cs typeface="Times New Roman"/>
                <a:sym typeface="Times New Roman"/>
              </a:rPr>
              <a:t>Reinforcement Machine Learning − It is a type of machine learning model that is similar to supervised learning but does not use sample data to train the algorithm. This model learns by trial and </a:t>
            </a:r>
            <a:r>
              <a:rPr lang="en-GB" sz="1200" dirty="0" smtClean="0">
                <a:solidFill>
                  <a:srgbClr val="000000"/>
                </a:solidFill>
                <a:latin typeface="Times New Roman"/>
                <a:ea typeface="Times New Roman"/>
                <a:cs typeface="Times New Roman"/>
                <a:sym typeface="Times New Roman"/>
              </a:rPr>
              <a:t>error.</a:t>
            </a:r>
          </a:p>
          <a:p>
            <a:pPr marL="152400" lvl="0" indent="0">
              <a:buClr>
                <a:srgbClr val="000000"/>
              </a:buClr>
              <a:buSzPts val="1200"/>
              <a:buNone/>
            </a:pPr>
            <a:endParaRPr lang="en-GB" sz="1200" dirty="0" smtClean="0">
              <a:solidFill>
                <a:srgbClr val="000000"/>
              </a:solidFill>
              <a:latin typeface="Times New Roman"/>
              <a:ea typeface="Times New Roman"/>
              <a:cs typeface="Times New Roman"/>
              <a:sym typeface="Times New Roman"/>
            </a:endParaRPr>
          </a:p>
          <a:p>
            <a:pPr marL="152400" lvl="0" indent="0">
              <a:buClr>
                <a:srgbClr val="000000"/>
              </a:buClr>
              <a:buSzPts val="1200"/>
              <a:buNone/>
            </a:pPr>
            <a:endParaRPr sz="1200" dirty="0">
              <a:solidFill>
                <a:srgbClr val="000000"/>
              </a:solidFill>
              <a:latin typeface="Times New Roman"/>
              <a:ea typeface="Times New Roman"/>
              <a:cs typeface="Times New Roman"/>
              <a:sym typeface="Times New Roman"/>
            </a:endParaRPr>
          </a:p>
        </p:txBody>
      </p:sp>
      <p:pic>
        <p:nvPicPr>
          <p:cNvPr id="7170" name="Picture 2" descr="Reinforcement Machine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6555" y="1549524"/>
            <a:ext cx="5715000" cy="2819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8886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title"/>
          </p:nvPr>
        </p:nvSpPr>
        <p:spPr>
          <a:xfrm>
            <a:off x="311700" y="73977"/>
            <a:ext cx="8520600" cy="707400"/>
          </a:xfrm>
          <a:prstGeom prst="rect">
            <a:avLst/>
          </a:prstGeom>
        </p:spPr>
        <p:txBody>
          <a:bodyPr spcFirstLastPara="1" wrap="square" lIns="91425" tIns="91425" rIns="91425" bIns="91425" anchor="t" anchorCtr="0">
            <a:normAutofit fontScale="90000"/>
          </a:bodyPr>
          <a:lstStyle/>
          <a:p>
            <a:r>
              <a:rPr lang="en-GB" dirty="0"/>
              <a:t>ML &amp; PR: </a:t>
            </a:r>
            <a:r>
              <a:rPr lang="en-GB" b="0" dirty="0" smtClean="0"/>
              <a:t>Types </a:t>
            </a:r>
            <a:r>
              <a:rPr lang="en-GB" b="0" dirty="0"/>
              <a:t>of Machine Learning</a:t>
            </a:r>
          </a:p>
        </p:txBody>
      </p:sp>
      <p:sp>
        <p:nvSpPr>
          <p:cNvPr id="100" name="Google Shape;100;p17"/>
          <p:cNvSpPr txBox="1">
            <a:spLocks noGrp="1"/>
          </p:cNvSpPr>
          <p:nvPr>
            <p:ph type="body" idx="1"/>
          </p:nvPr>
        </p:nvSpPr>
        <p:spPr>
          <a:xfrm>
            <a:off x="349320" y="726252"/>
            <a:ext cx="8164481" cy="4035927"/>
          </a:xfrm>
          <a:prstGeom prst="rect">
            <a:avLst/>
          </a:prstGeom>
        </p:spPr>
        <p:txBody>
          <a:bodyPr spcFirstLastPara="1" wrap="square" lIns="91425" tIns="91425" rIns="91425" bIns="91425" anchor="t" anchorCtr="0">
            <a:normAutofit/>
          </a:bodyPr>
          <a:lstStyle/>
          <a:p>
            <a:pPr marL="152400" lvl="0" indent="0">
              <a:buClr>
                <a:srgbClr val="000000"/>
              </a:buClr>
              <a:buSzPts val="1200"/>
              <a:buNone/>
            </a:pPr>
            <a:endParaRPr lang="en-GB" sz="1200" dirty="0" smtClean="0">
              <a:solidFill>
                <a:srgbClr val="000000"/>
              </a:solidFill>
              <a:latin typeface="Times New Roman"/>
              <a:ea typeface="Times New Roman"/>
              <a:cs typeface="Times New Roman"/>
              <a:sym typeface="Times New Roman"/>
            </a:endParaRPr>
          </a:p>
          <a:p>
            <a:pPr marL="152400" lvl="0" indent="0">
              <a:buClr>
                <a:srgbClr val="000000"/>
              </a:buClr>
              <a:buSzPts val="1200"/>
              <a:buNone/>
            </a:pPr>
            <a:endParaRPr sz="1200" dirty="0">
              <a:solidFill>
                <a:srgbClr val="000000"/>
              </a:solidFill>
              <a:latin typeface="Times New Roman"/>
              <a:ea typeface="Times New Roman"/>
              <a:cs typeface="Times New Roman"/>
              <a:sym typeface="Times New Roman"/>
            </a:endParaRPr>
          </a:p>
        </p:txBody>
      </p:sp>
      <p:pic>
        <p:nvPicPr>
          <p:cNvPr id="6" name="Picture 5"/>
          <p:cNvPicPr>
            <a:picLocks noChangeAspect="1"/>
          </p:cNvPicPr>
          <p:nvPr/>
        </p:nvPicPr>
        <p:blipFill>
          <a:blip r:embed="rId3"/>
          <a:stretch>
            <a:fillRect/>
          </a:stretch>
        </p:blipFill>
        <p:spPr>
          <a:xfrm>
            <a:off x="585627" y="726252"/>
            <a:ext cx="7202184" cy="4236166"/>
          </a:xfrm>
          <a:prstGeom prst="rect">
            <a:avLst/>
          </a:prstGeom>
          <a:noFill/>
          <a:ln w="9525">
            <a:noFill/>
          </a:ln>
        </p:spPr>
      </p:pic>
    </p:spTree>
    <p:extLst>
      <p:ext uri="{BB962C8B-B14F-4D97-AF65-F5344CB8AC3E}">
        <p14:creationId xmlns:p14="http://schemas.microsoft.com/office/powerpoint/2010/main" val="23608901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title"/>
          </p:nvPr>
        </p:nvSpPr>
        <p:spPr>
          <a:xfrm>
            <a:off x="311700" y="73977"/>
            <a:ext cx="8520600" cy="707400"/>
          </a:xfrm>
          <a:prstGeom prst="rect">
            <a:avLst/>
          </a:prstGeom>
        </p:spPr>
        <p:txBody>
          <a:bodyPr spcFirstLastPara="1" wrap="square" lIns="91425" tIns="91425" rIns="91425" bIns="91425" anchor="t" anchorCtr="0">
            <a:normAutofit fontScale="90000"/>
          </a:bodyPr>
          <a:lstStyle/>
          <a:p>
            <a:r>
              <a:rPr lang="en-GB" dirty="0" smtClean="0"/>
              <a:t>ML &amp; PR: </a:t>
            </a:r>
            <a:r>
              <a:rPr lang="en-GB" b="0" dirty="0" smtClean="0"/>
              <a:t>Importance</a:t>
            </a:r>
            <a:endParaRPr lang="en-GB" b="0" dirty="0"/>
          </a:p>
        </p:txBody>
      </p:sp>
      <p:sp>
        <p:nvSpPr>
          <p:cNvPr id="100" name="Google Shape;100;p17"/>
          <p:cNvSpPr txBox="1">
            <a:spLocks noGrp="1"/>
          </p:cNvSpPr>
          <p:nvPr>
            <p:ph type="body" idx="1"/>
          </p:nvPr>
        </p:nvSpPr>
        <p:spPr>
          <a:xfrm>
            <a:off x="349320" y="726252"/>
            <a:ext cx="8164481" cy="4035927"/>
          </a:xfrm>
          <a:prstGeom prst="rect">
            <a:avLst/>
          </a:prstGeom>
        </p:spPr>
        <p:txBody>
          <a:bodyPr spcFirstLastPara="1" wrap="square" lIns="91425" tIns="91425" rIns="91425" bIns="91425" anchor="t" anchorCtr="0">
            <a:normAutofit/>
          </a:bodyPr>
          <a:lstStyle/>
          <a:p>
            <a:pPr marL="152400" lvl="0" indent="0" algn="just">
              <a:buClr>
                <a:srgbClr val="000000"/>
              </a:buClr>
              <a:buSzPts val="1200"/>
              <a:buNone/>
            </a:pPr>
            <a:endParaRPr lang="en-GB" sz="1200" dirty="0" smtClean="0">
              <a:solidFill>
                <a:srgbClr val="000000"/>
              </a:solidFill>
              <a:latin typeface="Times New Roman"/>
              <a:ea typeface="Times New Roman"/>
              <a:cs typeface="Times New Roman"/>
              <a:sym typeface="Times New Roman"/>
            </a:endParaRPr>
          </a:p>
          <a:p>
            <a:pPr marL="323850" indent="-171450" algn="just">
              <a:buClr>
                <a:srgbClr val="000000"/>
              </a:buClr>
              <a:buSzPts val="1200"/>
            </a:pPr>
            <a:r>
              <a:rPr lang="en-GB" sz="1200" b="1" i="1" dirty="0">
                <a:solidFill>
                  <a:srgbClr val="000000"/>
                </a:solidFill>
                <a:latin typeface="Times New Roman"/>
                <a:ea typeface="Times New Roman"/>
                <a:cs typeface="Times New Roman"/>
                <a:sym typeface="Times New Roman"/>
              </a:rPr>
              <a:t>Data Processing </a:t>
            </a:r>
            <a:r>
              <a:rPr lang="en-GB" sz="1200" dirty="0">
                <a:solidFill>
                  <a:srgbClr val="000000"/>
                </a:solidFill>
                <a:latin typeface="Times New Roman"/>
                <a:ea typeface="Times New Roman"/>
                <a:cs typeface="Times New Roman"/>
                <a:sym typeface="Times New Roman"/>
              </a:rPr>
              <a:t>− Machine learning is useful to </a:t>
            </a:r>
            <a:r>
              <a:rPr lang="en-GB" sz="1200" dirty="0" err="1">
                <a:solidFill>
                  <a:srgbClr val="000000"/>
                </a:solidFill>
                <a:latin typeface="Times New Roman"/>
                <a:ea typeface="Times New Roman"/>
                <a:cs typeface="Times New Roman"/>
                <a:sym typeface="Times New Roman"/>
              </a:rPr>
              <a:t>analyze</a:t>
            </a:r>
            <a:r>
              <a:rPr lang="en-GB" sz="1200" dirty="0">
                <a:solidFill>
                  <a:srgbClr val="000000"/>
                </a:solidFill>
                <a:latin typeface="Times New Roman"/>
                <a:ea typeface="Times New Roman"/>
                <a:cs typeface="Times New Roman"/>
                <a:sym typeface="Times New Roman"/>
              </a:rPr>
              <a:t> large data from social media, sensors, and other sources and help to reveal patterns and insights to improve </a:t>
            </a:r>
            <a:r>
              <a:rPr lang="en-GB" sz="1200" dirty="0" smtClean="0">
                <a:solidFill>
                  <a:srgbClr val="000000"/>
                </a:solidFill>
                <a:latin typeface="Times New Roman"/>
                <a:ea typeface="Times New Roman"/>
                <a:cs typeface="Times New Roman"/>
                <a:sym typeface="Times New Roman"/>
              </a:rPr>
              <a:t>decision-making.</a:t>
            </a:r>
          </a:p>
          <a:p>
            <a:pPr marL="323850" indent="-171450" algn="just">
              <a:buClr>
                <a:srgbClr val="000000"/>
              </a:buClr>
              <a:buSzPts val="1200"/>
            </a:pPr>
            <a:r>
              <a:rPr lang="en-GB" sz="1200" dirty="0" smtClean="0">
                <a:solidFill>
                  <a:srgbClr val="000000"/>
                </a:solidFill>
                <a:latin typeface="Times New Roman"/>
                <a:ea typeface="Times New Roman"/>
                <a:cs typeface="Times New Roman"/>
                <a:sym typeface="Times New Roman"/>
              </a:rPr>
              <a:t>Data-Driven </a:t>
            </a:r>
            <a:r>
              <a:rPr lang="en-GB" sz="1200" dirty="0">
                <a:solidFill>
                  <a:srgbClr val="000000"/>
                </a:solidFill>
                <a:latin typeface="Times New Roman"/>
                <a:ea typeface="Times New Roman"/>
                <a:cs typeface="Times New Roman"/>
                <a:sym typeface="Times New Roman"/>
              </a:rPr>
              <a:t>Insights − Machine learning algorithms find trends and connections in big data that humans might miss, which helps to take better decisions and </a:t>
            </a:r>
            <a:r>
              <a:rPr lang="en-GB" sz="1200" dirty="0" smtClean="0">
                <a:solidFill>
                  <a:srgbClr val="000000"/>
                </a:solidFill>
                <a:latin typeface="Times New Roman"/>
                <a:ea typeface="Times New Roman"/>
                <a:cs typeface="Times New Roman"/>
                <a:sym typeface="Times New Roman"/>
              </a:rPr>
              <a:t>predictions.</a:t>
            </a:r>
          </a:p>
          <a:p>
            <a:pPr marL="323850" indent="-171450" algn="just">
              <a:buClr>
                <a:srgbClr val="000000"/>
              </a:buClr>
              <a:buSzPts val="1200"/>
            </a:pPr>
            <a:r>
              <a:rPr lang="en-GB" sz="1200" dirty="0" smtClean="0">
                <a:solidFill>
                  <a:srgbClr val="000000"/>
                </a:solidFill>
                <a:latin typeface="Times New Roman"/>
                <a:ea typeface="Times New Roman"/>
                <a:cs typeface="Times New Roman"/>
                <a:sym typeface="Times New Roman"/>
              </a:rPr>
              <a:t>Automation </a:t>
            </a:r>
            <a:r>
              <a:rPr lang="en-GB" sz="1200" dirty="0">
                <a:solidFill>
                  <a:srgbClr val="000000"/>
                </a:solidFill>
                <a:latin typeface="Times New Roman"/>
                <a:ea typeface="Times New Roman"/>
                <a:cs typeface="Times New Roman"/>
                <a:sym typeface="Times New Roman"/>
              </a:rPr>
              <a:t>− Machine learning automates the repetitive tasks, reducing errors and saving </a:t>
            </a:r>
            <a:r>
              <a:rPr lang="en-GB" sz="1200" dirty="0" smtClean="0">
                <a:solidFill>
                  <a:srgbClr val="000000"/>
                </a:solidFill>
                <a:latin typeface="Times New Roman"/>
                <a:ea typeface="Times New Roman"/>
                <a:cs typeface="Times New Roman"/>
                <a:sym typeface="Times New Roman"/>
              </a:rPr>
              <a:t>time.</a:t>
            </a:r>
          </a:p>
          <a:p>
            <a:pPr marL="323850" indent="-171450" algn="just">
              <a:buClr>
                <a:srgbClr val="000000"/>
              </a:buClr>
              <a:buSzPts val="1200"/>
            </a:pPr>
            <a:r>
              <a:rPr lang="en-GB" sz="1200" dirty="0" smtClean="0">
                <a:solidFill>
                  <a:srgbClr val="000000"/>
                </a:solidFill>
                <a:latin typeface="Times New Roman"/>
                <a:ea typeface="Times New Roman"/>
                <a:cs typeface="Times New Roman"/>
                <a:sym typeface="Times New Roman"/>
              </a:rPr>
              <a:t>Personalization </a:t>
            </a:r>
            <a:r>
              <a:rPr lang="en-GB" sz="1200" dirty="0">
                <a:solidFill>
                  <a:srgbClr val="000000"/>
                </a:solidFill>
                <a:latin typeface="Times New Roman"/>
                <a:ea typeface="Times New Roman"/>
                <a:cs typeface="Times New Roman"/>
                <a:sym typeface="Times New Roman"/>
              </a:rPr>
              <a:t>− Machine learning is useful to </a:t>
            </a:r>
            <a:r>
              <a:rPr lang="en-GB" sz="1200" dirty="0" err="1">
                <a:solidFill>
                  <a:srgbClr val="000000"/>
                </a:solidFill>
                <a:latin typeface="Times New Roman"/>
                <a:ea typeface="Times New Roman"/>
                <a:cs typeface="Times New Roman"/>
                <a:sym typeface="Times New Roman"/>
              </a:rPr>
              <a:t>analyze</a:t>
            </a:r>
            <a:r>
              <a:rPr lang="en-GB" sz="1200" dirty="0">
                <a:solidFill>
                  <a:srgbClr val="000000"/>
                </a:solidFill>
                <a:latin typeface="Times New Roman"/>
                <a:ea typeface="Times New Roman"/>
                <a:cs typeface="Times New Roman"/>
                <a:sym typeface="Times New Roman"/>
              </a:rPr>
              <a:t> the user preferences to provide personalized recommendations in e-commerce, social media, and streaming services. It helps in many manners, such as to improve user engagement, </a:t>
            </a:r>
            <a:r>
              <a:rPr lang="en-GB" sz="1200" dirty="0" smtClean="0">
                <a:solidFill>
                  <a:srgbClr val="000000"/>
                </a:solidFill>
                <a:latin typeface="Times New Roman"/>
                <a:ea typeface="Times New Roman"/>
                <a:cs typeface="Times New Roman"/>
                <a:sym typeface="Times New Roman"/>
              </a:rPr>
              <a:t>etc.</a:t>
            </a:r>
          </a:p>
          <a:p>
            <a:pPr marL="323850" indent="-171450" algn="just">
              <a:buClr>
                <a:srgbClr val="000000"/>
              </a:buClr>
              <a:buSzPts val="1200"/>
            </a:pPr>
            <a:r>
              <a:rPr lang="en-GB" sz="1200" dirty="0" smtClean="0">
                <a:solidFill>
                  <a:srgbClr val="000000"/>
                </a:solidFill>
                <a:latin typeface="Times New Roman"/>
                <a:ea typeface="Times New Roman"/>
                <a:cs typeface="Times New Roman"/>
                <a:sym typeface="Times New Roman"/>
              </a:rPr>
              <a:t>Predictive </a:t>
            </a:r>
            <a:r>
              <a:rPr lang="en-GB" sz="1200" dirty="0">
                <a:solidFill>
                  <a:srgbClr val="000000"/>
                </a:solidFill>
                <a:latin typeface="Times New Roman"/>
                <a:ea typeface="Times New Roman"/>
                <a:cs typeface="Times New Roman"/>
                <a:sym typeface="Times New Roman"/>
              </a:rPr>
              <a:t>Analytics − Machine learning models use past data to predict future outcomes, which may help for sales forecasts, risk management, and demand </a:t>
            </a:r>
            <a:r>
              <a:rPr lang="en-GB" sz="1200" dirty="0" smtClean="0">
                <a:solidFill>
                  <a:srgbClr val="000000"/>
                </a:solidFill>
                <a:latin typeface="Times New Roman"/>
                <a:ea typeface="Times New Roman"/>
                <a:cs typeface="Times New Roman"/>
                <a:sym typeface="Times New Roman"/>
              </a:rPr>
              <a:t>planning.</a:t>
            </a:r>
          </a:p>
          <a:p>
            <a:pPr marL="323850" indent="-171450" algn="just">
              <a:buClr>
                <a:srgbClr val="000000"/>
              </a:buClr>
              <a:buSzPts val="1200"/>
            </a:pPr>
            <a:r>
              <a:rPr lang="en-GB" sz="1200" dirty="0" smtClean="0">
                <a:solidFill>
                  <a:srgbClr val="000000"/>
                </a:solidFill>
                <a:latin typeface="Times New Roman"/>
                <a:ea typeface="Times New Roman"/>
                <a:cs typeface="Times New Roman"/>
                <a:sym typeface="Times New Roman"/>
              </a:rPr>
              <a:t>Pattern </a:t>
            </a:r>
            <a:r>
              <a:rPr lang="en-GB" sz="1200" dirty="0">
                <a:solidFill>
                  <a:srgbClr val="000000"/>
                </a:solidFill>
                <a:latin typeface="Times New Roman"/>
                <a:ea typeface="Times New Roman"/>
                <a:cs typeface="Times New Roman"/>
                <a:sym typeface="Times New Roman"/>
              </a:rPr>
              <a:t>Recognition − Machine learning is useful in pattern recognition during image processing, speech recognition, and natural language </a:t>
            </a:r>
            <a:r>
              <a:rPr lang="en-GB" sz="1200" dirty="0" smtClean="0">
                <a:solidFill>
                  <a:srgbClr val="000000"/>
                </a:solidFill>
                <a:latin typeface="Times New Roman"/>
                <a:ea typeface="Times New Roman"/>
                <a:cs typeface="Times New Roman"/>
                <a:sym typeface="Times New Roman"/>
              </a:rPr>
              <a:t>processing.</a:t>
            </a:r>
          </a:p>
          <a:p>
            <a:pPr marL="323850" indent="-171450" algn="just">
              <a:buClr>
                <a:srgbClr val="000000"/>
              </a:buClr>
              <a:buSzPts val="1200"/>
            </a:pPr>
            <a:r>
              <a:rPr lang="en-GB" sz="1200" dirty="0" smtClean="0">
                <a:solidFill>
                  <a:srgbClr val="000000"/>
                </a:solidFill>
                <a:latin typeface="Times New Roman"/>
                <a:ea typeface="Times New Roman"/>
                <a:cs typeface="Times New Roman"/>
                <a:sym typeface="Times New Roman"/>
              </a:rPr>
              <a:t>Finance </a:t>
            </a:r>
            <a:r>
              <a:rPr lang="en-GB" sz="1200" dirty="0">
                <a:solidFill>
                  <a:srgbClr val="000000"/>
                </a:solidFill>
                <a:latin typeface="Times New Roman"/>
                <a:ea typeface="Times New Roman"/>
                <a:cs typeface="Times New Roman"/>
                <a:sym typeface="Times New Roman"/>
              </a:rPr>
              <a:t>− Machine learning is used in credit scoring, fraud detection, and algorithmic </a:t>
            </a:r>
            <a:r>
              <a:rPr lang="en-GB" sz="1200" dirty="0" smtClean="0">
                <a:solidFill>
                  <a:srgbClr val="000000"/>
                </a:solidFill>
                <a:latin typeface="Times New Roman"/>
                <a:ea typeface="Times New Roman"/>
                <a:cs typeface="Times New Roman"/>
                <a:sym typeface="Times New Roman"/>
              </a:rPr>
              <a:t>trading.</a:t>
            </a:r>
          </a:p>
          <a:p>
            <a:pPr marL="323850" indent="-171450" algn="just">
              <a:buClr>
                <a:srgbClr val="000000"/>
              </a:buClr>
              <a:buSzPts val="1200"/>
            </a:pPr>
            <a:r>
              <a:rPr lang="en-GB" sz="1200" dirty="0" smtClean="0">
                <a:solidFill>
                  <a:srgbClr val="000000"/>
                </a:solidFill>
                <a:latin typeface="Times New Roman"/>
                <a:ea typeface="Times New Roman"/>
                <a:cs typeface="Times New Roman"/>
                <a:sym typeface="Times New Roman"/>
              </a:rPr>
              <a:t>Retail </a:t>
            </a:r>
            <a:r>
              <a:rPr lang="en-GB" sz="1200" dirty="0">
                <a:solidFill>
                  <a:srgbClr val="000000"/>
                </a:solidFill>
                <a:latin typeface="Times New Roman"/>
                <a:ea typeface="Times New Roman"/>
                <a:cs typeface="Times New Roman"/>
                <a:sym typeface="Times New Roman"/>
              </a:rPr>
              <a:t>− Machine learning helps to enhance the recommendation systems, supply chain management, and customer </a:t>
            </a:r>
            <a:r>
              <a:rPr lang="en-GB" sz="1200" dirty="0" smtClean="0">
                <a:solidFill>
                  <a:srgbClr val="000000"/>
                </a:solidFill>
                <a:latin typeface="Times New Roman"/>
                <a:ea typeface="Times New Roman"/>
                <a:cs typeface="Times New Roman"/>
                <a:sym typeface="Times New Roman"/>
              </a:rPr>
              <a:t>service.</a:t>
            </a:r>
          </a:p>
          <a:p>
            <a:pPr marL="323850" indent="-171450" algn="just">
              <a:buClr>
                <a:srgbClr val="000000"/>
              </a:buClr>
              <a:buSzPts val="1200"/>
            </a:pPr>
            <a:r>
              <a:rPr lang="en-GB" sz="1200" dirty="0" smtClean="0">
                <a:solidFill>
                  <a:srgbClr val="000000"/>
                </a:solidFill>
                <a:latin typeface="Times New Roman"/>
                <a:ea typeface="Times New Roman"/>
                <a:cs typeface="Times New Roman"/>
                <a:sym typeface="Times New Roman"/>
              </a:rPr>
              <a:t>Fraud </a:t>
            </a:r>
            <a:r>
              <a:rPr lang="en-GB" sz="1200" dirty="0">
                <a:solidFill>
                  <a:srgbClr val="000000"/>
                </a:solidFill>
                <a:latin typeface="Times New Roman"/>
                <a:ea typeface="Times New Roman"/>
                <a:cs typeface="Times New Roman"/>
                <a:sym typeface="Times New Roman"/>
              </a:rPr>
              <a:t>Detection &amp; Cybersecurity − Machine learning detects the fraudulent transactions and security threats in real </a:t>
            </a:r>
            <a:r>
              <a:rPr lang="en-GB" sz="1200" dirty="0" smtClean="0">
                <a:solidFill>
                  <a:srgbClr val="000000"/>
                </a:solidFill>
                <a:latin typeface="Times New Roman"/>
                <a:ea typeface="Times New Roman"/>
                <a:cs typeface="Times New Roman"/>
                <a:sym typeface="Times New Roman"/>
              </a:rPr>
              <a:t>time.</a:t>
            </a:r>
          </a:p>
          <a:p>
            <a:pPr marL="323850" indent="-171450" algn="just">
              <a:buClr>
                <a:srgbClr val="000000"/>
              </a:buClr>
              <a:buSzPts val="1200"/>
            </a:pPr>
            <a:r>
              <a:rPr lang="en-GB" sz="1200" dirty="0" smtClean="0">
                <a:solidFill>
                  <a:srgbClr val="000000"/>
                </a:solidFill>
                <a:latin typeface="Times New Roman"/>
                <a:ea typeface="Times New Roman"/>
                <a:cs typeface="Times New Roman"/>
                <a:sym typeface="Times New Roman"/>
              </a:rPr>
              <a:t>Continuous </a:t>
            </a:r>
            <a:r>
              <a:rPr lang="en-GB" sz="1200" dirty="0">
                <a:solidFill>
                  <a:srgbClr val="000000"/>
                </a:solidFill>
                <a:latin typeface="Times New Roman"/>
                <a:ea typeface="Times New Roman"/>
                <a:cs typeface="Times New Roman"/>
                <a:sym typeface="Times New Roman"/>
              </a:rPr>
              <a:t>Improvement − Machine learning models update regularly with new data, which allows them to adapt and improve over time.</a:t>
            </a:r>
            <a:endParaRPr sz="120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088210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title"/>
          </p:nvPr>
        </p:nvSpPr>
        <p:spPr>
          <a:xfrm>
            <a:off x="311700" y="73977"/>
            <a:ext cx="8520600" cy="707400"/>
          </a:xfrm>
          <a:prstGeom prst="rect">
            <a:avLst/>
          </a:prstGeom>
        </p:spPr>
        <p:txBody>
          <a:bodyPr spcFirstLastPara="1" wrap="square" lIns="91425" tIns="91425" rIns="91425" bIns="91425" anchor="t" anchorCtr="0">
            <a:normAutofit fontScale="90000"/>
          </a:bodyPr>
          <a:lstStyle/>
          <a:p>
            <a:r>
              <a:rPr lang="en-GB" dirty="0" smtClean="0"/>
              <a:t>ML &amp; PR: </a:t>
            </a:r>
            <a:r>
              <a:rPr lang="en-GB" b="0" dirty="0" smtClean="0"/>
              <a:t>Applications</a:t>
            </a:r>
            <a:r>
              <a:rPr lang="en-GB" b="0" dirty="0"/>
              <a:t/>
            </a:r>
            <a:br>
              <a:rPr lang="en-GB" b="0" dirty="0"/>
            </a:br>
            <a:endParaRPr lang="en-GB" b="0" dirty="0"/>
          </a:p>
        </p:txBody>
      </p:sp>
      <p:sp>
        <p:nvSpPr>
          <p:cNvPr id="100" name="Google Shape;100;p17"/>
          <p:cNvSpPr txBox="1">
            <a:spLocks noGrp="1"/>
          </p:cNvSpPr>
          <p:nvPr>
            <p:ph type="body" idx="1"/>
          </p:nvPr>
        </p:nvSpPr>
        <p:spPr>
          <a:xfrm>
            <a:off x="349320" y="726252"/>
            <a:ext cx="8164481" cy="4035927"/>
          </a:xfrm>
          <a:prstGeom prst="rect">
            <a:avLst/>
          </a:prstGeom>
        </p:spPr>
        <p:txBody>
          <a:bodyPr spcFirstLastPara="1" wrap="square" lIns="91425" tIns="91425" rIns="91425" bIns="91425" anchor="t" anchorCtr="0">
            <a:normAutofit/>
          </a:bodyPr>
          <a:lstStyle/>
          <a:p>
            <a:pPr marL="152400" lvl="0" indent="0" algn="just">
              <a:buClr>
                <a:srgbClr val="000000"/>
              </a:buClr>
              <a:buSzPts val="1200"/>
              <a:buNone/>
            </a:pPr>
            <a:endParaRPr lang="en-GB" sz="1200" dirty="0" smtClean="0">
              <a:solidFill>
                <a:srgbClr val="000000"/>
              </a:solidFill>
              <a:latin typeface="Times New Roman"/>
              <a:ea typeface="Times New Roman"/>
              <a:cs typeface="Times New Roman"/>
              <a:sym typeface="Times New Roman"/>
            </a:endParaRPr>
          </a:p>
          <a:p>
            <a:pPr marL="323850" indent="-171450" algn="just">
              <a:buClr>
                <a:srgbClr val="000000"/>
              </a:buClr>
              <a:buSzPts val="1200"/>
            </a:pPr>
            <a:r>
              <a:rPr lang="en-GB" sz="1200" b="1" i="1" dirty="0">
                <a:solidFill>
                  <a:srgbClr val="000000"/>
                </a:solidFill>
                <a:latin typeface="Times New Roman"/>
                <a:ea typeface="Times New Roman"/>
                <a:cs typeface="Times New Roman"/>
                <a:sym typeface="Times New Roman"/>
              </a:rPr>
              <a:t>Speech Recognition − </a:t>
            </a:r>
            <a:r>
              <a:rPr lang="en-GB" sz="1200" dirty="0">
                <a:solidFill>
                  <a:srgbClr val="000000"/>
                </a:solidFill>
                <a:latin typeface="Times New Roman"/>
                <a:ea typeface="Times New Roman"/>
                <a:cs typeface="Times New Roman"/>
                <a:sym typeface="Times New Roman"/>
              </a:rPr>
              <a:t>Machine learning is used to convert spoken language into text using natural language processing (NLP). It is used in voice assistants like Siri, voice search, and text accessibility features on mobile devices.</a:t>
            </a:r>
          </a:p>
          <a:p>
            <a:pPr marL="323850" indent="-171450" algn="just">
              <a:buClr>
                <a:srgbClr val="000000"/>
              </a:buClr>
              <a:buSzPts val="1200"/>
            </a:pPr>
            <a:r>
              <a:rPr lang="en-GB" sz="1200" dirty="0">
                <a:solidFill>
                  <a:srgbClr val="000000"/>
                </a:solidFill>
                <a:latin typeface="Times New Roman"/>
                <a:ea typeface="Times New Roman"/>
                <a:cs typeface="Times New Roman"/>
                <a:sym typeface="Times New Roman"/>
              </a:rPr>
              <a:t>Customer Service − There are several </a:t>
            </a:r>
            <a:r>
              <a:rPr lang="en-GB" sz="1200" dirty="0" err="1">
                <a:solidFill>
                  <a:srgbClr val="000000"/>
                </a:solidFill>
                <a:latin typeface="Times New Roman"/>
                <a:ea typeface="Times New Roman"/>
                <a:cs typeface="Times New Roman"/>
                <a:sym typeface="Times New Roman"/>
              </a:rPr>
              <a:t>chatbots</a:t>
            </a:r>
            <a:r>
              <a:rPr lang="en-GB" sz="1200" dirty="0">
                <a:solidFill>
                  <a:srgbClr val="000000"/>
                </a:solidFill>
                <a:latin typeface="Times New Roman"/>
                <a:ea typeface="Times New Roman"/>
                <a:cs typeface="Times New Roman"/>
                <a:sym typeface="Times New Roman"/>
              </a:rPr>
              <a:t> that are useful for reducing human interaction and providing better support on websites and social media, handling FAQs, giving recommendations, and assisting in e-commerce. For example, virtual agents, Facebook Messenger bots, and voice assistants.</a:t>
            </a:r>
          </a:p>
          <a:p>
            <a:pPr marL="323850" indent="-171450" algn="just">
              <a:buClr>
                <a:srgbClr val="000000"/>
              </a:buClr>
              <a:buSzPts val="1200"/>
            </a:pPr>
            <a:r>
              <a:rPr lang="en-GB" sz="1200" dirty="0">
                <a:solidFill>
                  <a:srgbClr val="000000"/>
                </a:solidFill>
                <a:latin typeface="Times New Roman"/>
                <a:ea typeface="Times New Roman"/>
                <a:cs typeface="Times New Roman"/>
                <a:sym typeface="Times New Roman"/>
              </a:rPr>
              <a:t>Computer Vision − It helps computers in </a:t>
            </a:r>
            <a:r>
              <a:rPr lang="en-GB" sz="1200" dirty="0" err="1">
                <a:solidFill>
                  <a:srgbClr val="000000"/>
                </a:solidFill>
                <a:latin typeface="Times New Roman"/>
                <a:ea typeface="Times New Roman"/>
                <a:cs typeface="Times New Roman"/>
                <a:sym typeface="Times New Roman"/>
              </a:rPr>
              <a:t>analyzing</a:t>
            </a:r>
            <a:r>
              <a:rPr lang="en-GB" sz="1200" dirty="0">
                <a:solidFill>
                  <a:srgbClr val="000000"/>
                </a:solidFill>
                <a:latin typeface="Times New Roman"/>
                <a:ea typeface="Times New Roman"/>
                <a:cs typeface="Times New Roman"/>
                <a:sym typeface="Times New Roman"/>
              </a:rPr>
              <a:t> the images and videos to take action. It is used in social media for photo tagging, in healthcare for medical imaging, and in self-driving cars for navigation.</a:t>
            </a:r>
          </a:p>
          <a:p>
            <a:pPr marL="323850" indent="-171450" algn="just">
              <a:buClr>
                <a:srgbClr val="000000"/>
              </a:buClr>
              <a:buSzPts val="1200"/>
            </a:pPr>
            <a:r>
              <a:rPr lang="en-GB" sz="1200" dirty="0">
                <a:solidFill>
                  <a:srgbClr val="000000"/>
                </a:solidFill>
                <a:latin typeface="Times New Roman"/>
                <a:ea typeface="Times New Roman"/>
                <a:cs typeface="Times New Roman"/>
                <a:sym typeface="Times New Roman"/>
              </a:rPr>
              <a:t>Recommendation Engines − ML recommendation engines suggest products, movies, or content based on user </a:t>
            </a:r>
            <a:r>
              <a:rPr lang="en-GB" sz="1200" dirty="0" err="1">
                <a:solidFill>
                  <a:srgbClr val="000000"/>
                </a:solidFill>
                <a:latin typeface="Times New Roman"/>
                <a:ea typeface="Times New Roman"/>
                <a:cs typeface="Times New Roman"/>
                <a:sym typeface="Times New Roman"/>
              </a:rPr>
              <a:t>behavior</a:t>
            </a:r>
            <a:r>
              <a:rPr lang="en-GB" sz="1200" dirty="0">
                <a:solidFill>
                  <a:srgbClr val="000000"/>
                </a:solidFill>
                <a:latin typeface="Times New Roman"/>
                <a:ea typeface="Times New Roman"/>
                <a:cs typeface="Times New Roman"/>
                <a:sym typeface="Times New Roman"/>
              </a:rPr>
              <a:t>. Online retailers use them to improve shopping experiences.</a:t>
            </a:r>
          </a:p>
          <a:p>
            <a:pPr marL="323850" indent="-171450" algn="just">
              <a:buClr>
                <a:srgbClr val="000000"/>
              </a:buClr>
              <a:buSzPts val="1200"/>
            </a:pPr>
            <a:r>
              <a:rPr lang="en-GB" sz="1200" dirty="0">
                <a:solidFill>
                  <a:srgbClr val="000000"/>
                </a:solidFill>
                <a:latin typeface="Times New Roman"/>
                <a:ea typeface="Times New Roman"/>
                <a:cs typeface="Times New Roman"/>
                <a:sym typeface="Times New Roman"/>
              </a:rPr>
              <a:t>Robotic Process Automation (RPA) − RPA uses AI to automate repetitive tasks and reduce manual work.</a:t>
            </a:r>
          </a:p>
          <a:p>
            <a:pPr marL="323850" indent="-171450" algn="just">
              <a:buClr>
                <a:srgbClr val="000000"/>
              </a:buClr>
              <a:buSzPts val="1200"/>
            </a:pPr>
            <a:r>
              <a:rPr lang="en-GB" sz="1200" dirty="0">
                <a:solidFill>
                  <a:srgbClr val="000000"/>
                </a:solidFill>
                <a:latin typeface="Times New Roman"/>
                <a:ea typeface="Times New Roman"/>
                <a:cs typeface="Times New Roman"/>
                <a:sym typeface="Times New Roman"/>
              </a:rPr>
              <a:t>Automated Stock Trading − AI-driven trading platforms make rapid trades to optimize stock portfolios without human intervention.</a:t>
            </a:r>
          </a:p>
          <a:p>
            <a:pPr marL="323850" indent="-171450" algn="just">
              <a:buClr>
                <a:srgbClr val="000000"/>
              </a:buClr>
              <a:buSzPts val="1200"/>
            </a:pPr>
            <a:r>
              <a:rPr lang="en-GB" sz="1200" dirty="0">
                <a:solidFill>
                  <a:srgbClr val="000000"/>
                </a:solidFill>
                <a:latin typeface="Times New Roman"/>
                <a:ea typeface="Times New Roman"/>
                <a:cs typeface="Times New Roman"/>
                <a:sym typeface="Times New Roman"/>
              </a:rPr>
              <a:t>Fraud Detection − Machine learning identifies suspicious financial transactions, which help banks to detect fraud and prevent unauthorized activities.</a:t>
            </a:r>
            <a:endParaRPr sz="120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99601817"/>
      </p:ext>
    </p:extLst>
  </p:cSld>
  <p:clrMapOvr>
    <a:masterClrMapping/>
  </p:clrMapOvr>
  <p:timing>
    <p:tnLst>
      <p:par>
        <p:cTn id="1" dur="indefinite" restart="never" nodeType="tmRoot"/>
      </p:par>
    </p:tnLst>
  </p:timing>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879</Words>
  <Application>Microsoft Office PowerPoint</Application>
  <PresentationFormat>On-screen Show (16:9)</PresentationFormat>
  <Paragraphs>49</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Times New Roman</vt:lpstr>
      <vt:lpstr>Arial</vt:lpstr>
      <vt:lpstr>PT Sans Narrow</vt:lpstr>
      <vt:lpstr>Open Sans</vt:lpstr>
      <vt:lpstr>Wingdings</vt:lpstr>
      <vt:lpstr>Tropic</vt:lpstr>
      <vt:lpstr>PATTERN RECOGNITION Introduction &amp; Overview</vt:lpstr>
      <vt:lpstr>PowerPoint Presentation</vt:lpstr>
      <vt:lpstr>Basic Terminology: ML &amp; PR</vt:lpstr>
      <vt:lpstr>ML &amp; PR: Machine Learning Working Principles</vt:lpstr>
      <vt:lpstr>ML &amp; PR: Stages of Machine Learning </vt:lpstr>
      <vt:lpstr>ML &amp; PR: Types of Machine Learning</vt:lpstr>
      <vt:lpstr>ML &amp; PR: Types of Machine Learning</vt:lpstr>
      <vt:lpstr>ML &amp; PR: Types of Machine Learning</vt:lpstr>
      <vt:lpstr>ML &amp; PR: Types of Machine Learning</vt:lpstr>
      <vt:lpstr>ML &amp; PR: Types of Machine Learning</vt:lpstr>
      <vt:lpstr>ML &amp; PR: Importance</vt:lpstr>
      <vt:lpstr>ML &amp; PR: Applications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RECOGNITION Introduction &amp; Overview</dc:title>
  <cp:lastModifiedBy>Shamim Hossain</cp:lastModifiedBy>
  <cp:revision>8</cp:revision>
  <dcterms:modified xsi:type="dcterms:W3CDTF">2026-01-05T05:46:10Z</dcterms:modified>
</cp:coreProperties>
</file>